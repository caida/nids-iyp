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2" r:id="rId26"/>
    <p:sldId id="283" r:id="rId27"/>
    <p:sldId id="284" r:id="rId28"/>
    <p:sldId id="285" r:id="rId29"/>
    <p:sldId id="286" r:id="rId30"/>
    <p:sldId id="287" r:id="rId31"/>
    <p:sldId id="289" r:id="rId32"/>
    <p:sldId id="290" r:id="rId33"/>
    <p:sldId id="291" r:id="rId34"/>
    <p:sldId id="292" r:id="rId35"/>
    <p:sldId id="302" r:id="rId36"/>
    <p:sldId id="303" r:id="rId37"/>
    <p:sldId id="304" r:id="rId38"/>
    <p:sldId id="305" r:id="rId39"/>
    <p:sldId id="306" r:id="rId40"/>
  </p:sldIdLst>
  <p:sldSz cx="18288000" cy="10287000"/>
  <p:notesSz cx="10287000" cy="1828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2B51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C3CA4-4D5A-384C-9381-ED68C2132987}" v="115" dt="2026-08-04T09:11:28.997"/>
    <p1510:client id="{2678409E-4AD8-A03A-7EBF-2C83854041EF}" v="182" dt="2026-08-04T10:08:55.417"/>
    <p1510:client id="{2CF59705-80A5-280C-8BDA-2738D4474462}" v="19" dt="2026-08-05T13:21:20.226"/>
    <p1510:client id="{722A1264-C1BB-1C9C-1BEA-4DFEBADAF72D}" v="771" dt="2026-08-04T18:49:59.576"/>
    <p1510:client id="{B7AC989B-8A2D-D301-217B-805F84AE396F}" v="2" dt="2026-08-04T07:35:10.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7DFFCC1-DA0D-44F1-81C4-246CF8ADF73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48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2B644E-8994-4BFE-B034-FF5BC7F27E78}"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685800" y="1143000"/>
            <a:ext cx="5486400" cy="308610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48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492F64F-DB27-48EF-B8F3-9B3311DCB691}" type="slidenum">
              <a:rPr lang="en-US"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685800" y="1143000"/>
            <a:ext cx="5486400" cy="308610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49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4825FCE-3F7E-472B-BEA2-D58B2B37DEFF}" type="slidenum">
              <a:rPr lang="en-US" sz="1200" b="0" u="none" strike="noStrike">
                <a:solidFill>
                  <a:srgbClr val="000000"/>
                </a:solidFill>
                <a:effectLst/>
                <a:uFillTx/>
                <a:latin typeface="Times New Roman"/>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49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6CE0FCE-F4C8-4F7F-8E48-89E3D1B3947C}" type="slidenum">
              <a:rPr lang="en-US" sz="1200" b="0" u="none" strike="noStrike">
                <a:solidFill>
                  <a:srgbClr val="000000"/>
                </a:solidFill>
                <a:effectLst/>
                <a:uFillTx/>
                <a:latin typeface="Times New Roman"/>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49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777A334-4D7E-4645-95EA-E76151F67315}"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0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74AD17A-7470-41EA-BA57-F629A4DDF894}"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0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36335B-3062-4439-B8F2-D228ED81C24B}"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0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BDEE46E-C39D-452E-8A41-EBC647B9581C}"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1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9C8A857-95B2-4B1F-A2EB-FDD598604F86}"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noRot="1" noChangeAspect="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1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0512B2-CE66-4604-ACA5-A74C21C724C0}"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noRot="1" noChangeAspect="1"/>
          </p:cNvSpPr>
          <p:nvPr>
            <p:ph type="sldImg"/>
          </p:nvPr>
        </p:nvSpPr>
        <p:spPr>
          <a:xfrm>
            <a:off x="685800" y="1143000"/>
            <a:ext cx="5486400" cy="308610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1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5A1865-FF9A-43E9-B0D8-964A5658CD26}" type="slidenum">
              <a:rPr lang="en-US" sz="1200" b="0" u="none" strike="noStrike">
                <a:solidFill>
                  <a:srgbClr val="000000"/>
                </a:solidFill>
                <a:effectLst/>
                <a:uFillTx/>
                <a:latin typeface="Times New Roman"/>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1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FB8825A-9AB4-4086-BD86-32CF9A498BDC}"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PlaceHolder 1"/>
          <p:cNvSpPr>
            <a:spLocks noGrp="1" noRot="1" noChangeAspect="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2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BDD296-C6AC-46FB-B53F-D970912250E8}"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noRot="1" noChangeAspect="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2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30AB6F6-6E23-4129-8CB3-9E58FD066867}" type="slidenum">
              <a:rPr lang="en-US" sz="1200" b="0" u="none" strike="noStrike">
                <a:solidFill>
                  <a:srgbClr val="000000"/>
                </a:solidFill>
                <a:effectLst/>
                <a:uFillTx/>
                <a:latin typeface="Times New Roman"/>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PlaceHolder 1"/>
          <p:cNvSpPr>
            <a:spLocks noGrp="1" noRot="1" noChangeAspect="1"/>
          </p:cNvSpPr>
          <p:nvPr>
            <p:ph type="sldImg"/>
          </p:nvPr>
        </p:nvSpPr>
        <p:spPr>
          <a:xfrm>
            <a:off x="685800" y="1143000"/>
            <a:ext cx="5486040" cy="3085920"/>
          </a:xfrm>
          <a:prstGeom prst="rect">
            <a:avLst/>
          </a:prstGeom>
          <a:ln w="0">
            <a:noFill/>
          </a:ln>
        </p:spPr>
      </p:sp>
      <p:sp>
        <p:nvSpPr>
          <p:cNvPr id="5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2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1FCC4B6-B21A-4A35-9EDC-5C7E8142D062}"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PlaceHolder 1"/>
          <p:cNvSpPr>
            <a:spLocks noGrp="1" noRot="1" noChangeAspect="1"/>
          </p:cNvSpPr>
          <p:nvPr>
            <p:ph type="sldImg"/>
          </p:nvPr>
        </p:nvSpPr>
        <p:spPr>
          <a:xfrm>
            <a:off x="685800" y="1143000"/>
            <a:ext cx="5486040" cy="3085920"/>
          </a:xfrm>
          <a:prstGeom prst="rect">
            <a:avLst/>
          </a:prstGeom>
          <a:ln w="0">
            <a:noFill/>
          </a:ln>
        </p:spPr>
      </p:sp>
      <p:sp>
        <p:nvSpPr>
          <p:cNvPr id="5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3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7964573-25D9-4B71-B8D9-2D96C4B64DB8}"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noRot="1" noChangeAspect="1"/>
          </p:cNvSpPr>
          <p:nvPr>
            <p:ph type="sldImg"/>
          </p:nvPr>
        </p:nvSpPr>
        <p:spPr>
          <a:xfrm>
            <a:off x="685800" y="1143000"/>
            <a:ext cx="5486040" cy="3085920"/>
          </a:xfrm>
          <a:prstGeom prst="rect">
            <a:avLst/>
          </a:prstGeom>
          <a:ln w="0">
            <a:noFill/>
          </a:ln>
        </p:spPr>
      </p:sp>
      <p:sp>
        <p:nvSpPr>
          <p:cNvPr id="5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3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2D52AF-16C6-4293-9342-B7EE2C549A35}" type="slidenum">
              <a:rPr lang="en-US" sz="1200" b="0" u="none" strike="noStrike">
                <a:solidFill>
                  <a:srgbClr val="000000"/>
                </a:solidFill>
                <a:effectLst/>
                <a:uFillTx/>
                <a:latin typeface="Times New Roman"/>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PlaceHolder 1"/>
          <p:cNvSpPr>
            <a:spLocks noGrp="1" noRot="1" noChangeAspect="1"/>
          </p:cNvSpPr>
          <p:nvPr>
            <p:ph type="sldImg"/>
          </p:nvPr>
        </p:nvSpPr>
        <p:spPr>
          <a:xfrm>
            <a:off x="685800" y="1143000"/>
            <a:ext cx="5486040" cy="3085920"/>
          </a:xfrm>
          <a:prstGeom prst="rect">
            <a:avLst/>
          </a:prstGeom>
          <a:ln w="0">
            <a:noFill/>
          </a:ln>
        </p:spPr>
      </p:sp>
      <p:sp>
        <p:nvSpPr>
          <p:cNvPr id="5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3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A48643A-7215-42F9-9FFF-957203045582}"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PlaceHolder 1"/>
          <p:cNvSpPr>
            <a:spLocks noGrp="1" noRot="1" noChangeAspect="1"/>
          </p:cNvSpPr>
          <p:nvPr>
            <p:ph type="sldImg"/>
          </p:nvPr>
        </p:nvSpPr>
        <p:spPr>
          <a:xfrm>
            <a:off x="685800" y="1143000"/>
            <a:ext cx="5486400" cy="3086100"/>
          </a:xfrm>
          <a:prstGeom prst="rect">
            <a:avLst/>
          </a:prstGeom>
          <a:ln w="0">
            <a:noFill/>
          </a:ln>
        </p:spPr>
      </p:sp>
      <p:sp>
        <p:nvSpPr>
          <p:cNvPr id="5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4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15AA5F0-4665-4E80-A27B-9995DA9EEFC1}"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PlaceHolder 1"/>
          <p:cNvSpPr>
            <a:spLocks noGrp="1" noRot="1" noChangeAspect="1"/>
          </p:cNvSpPr>
          <p:nvPr>
            <p:ph type="sldImg"/>
          </p:nvPr>
        </p:nvSpPr>
        <p:spPr>
          <a:xfrm>
            <a:off x="685800" y="1143000"/>
            <a:ext cx="5486040" cy="3085920"/>
          </a:xfrm>
          <a:prstGeom prst="rect">
            <a:avLst/>
          </a:prstGeom>
          <a:ln w="0">
            <a:noFill/>
          </a:ln>
        </p:spPr>
      </p:sp>
      <p:sp>
        <p:nvSpPr>
          <p:cNvPr id="5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43"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7DC9237-4A8C-44F7-A6CE-71F0761BB1F7}"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PlaceHolder 1"/>
          <p:cNvSpPr>
            <a:spLocks noGrp="1" noRot="1" noChangeAspect="1"/>
          </p:cNvSpPr>
          <p:nvPr>
            <p:ph type="sldImg"/>
          </p:nvPr>
        </p:nvSpPr>
        <p:spPr>
          <a:xfrm>
            <a:off x="685800" y="1143000"/>
            <a:ext cx="5486400" cy="3086100"/>
          </a:xfrm>
          <a:prstGeom prst="rect">
            <a:avLst/>
          </a:prstGeom>
          <a:ln w="0">
            <a:noFill/>
          </a:ln>
        </p:spPr>
      </p:sp>
      <p:sp>
        <p:nvSpPr>
          <p:cNvPr id="5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4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BADA7CB-9FFA-4A89-8152-4328285E0A37}" type="slidenum">
              <a:rPr lang="en-US" sz="1200" b="0" u="none" strike="noStrike">
                <a:solidFill>
                  <a:srgbClr val="000000"/>
                </a:solidFill>
                <a:effectLst/>
                <a:uFillTx/>
                <a:latin typeface="Times New Roman"/>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noRot="1" noChangeAspect="1"/>
          </p:cNvSpPr>
          <p:nvPr>
            <p:ph type="sldImg"/>
          </p:nvPr>
        </p:nvSpPr>
        <p:spPr>
          <a:xfrm>
            <a:off x="685800" y="1143000"/>
            <a:ext cx="5486400" cy="3086100"/>
          </a:xfrm>
          <a:prstGeom prst="rect">
            <a:avLst/>
          </a:prstGeom>
          <a:ln w="0">
            <a:noFill/>
          </a:ln>
        </p:spPr>
      </p:sp>
      <p:sp>
        <p:nvSpPr>
          <p:cNvPr id="5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52"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2697BD3-E0B0-49AA-A02A-B5A55A475C37}"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noRot="1" noChangeAspect="1"/>
          </p:cNvSpPr>
          <p:nvPr>
            <p:ph type="sldImg"/>
          </p:nvPr>
        </p:nvSpPr>
        <p:spPr>
          <a:xfrm>
            <a:off x="685800" y="1143000"/>
            <a:ext cx="5486400" cy="3086100"/>
          </a:xfrm>
          <a:prstGeom prst="rect">
            <a:avLst/>
          </a:prstGeom>
          <a:ln w="0">
            <a:noFill/>
          </a:ln>
        </p:spPr>
      </p:sp>
      <p:sp>
        <p:nvSpPr>
          <p:cNvPr id="5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55"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10663CF-0903-4C65-AB08-3BAD69CB8628}" type="slidenum">
              <a:rPr lang="en-US" sz="1200" b="0" u="none" strike="noStrike">
                <a:solidFill>
                  <a:srgbClr val="000000"/>
                </a:solidFill>
                <a:effectLst/>
                <a:uFillTx/>
                <a:latin typeface="Times New Roman"/>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noRot="1" noChangeAspect="1"/>
          </p:cNvSpPr>
          <p:nvPr>
            <p:ph type="sldImg"/>
          </p:nvPr>
        </p:nvSpPr>
        <p:spPr>
          <a:xfrm>
            <a:off x="685800" y="1143000"/>
            <a:ext cx="5486040" cy="3085920"/>
          </a:xfrm>
          <a:prstGeom prst="rect">
            <a:avLst/>
          </a:prstGeom>
          <a:ln w="0">
            <a:noFill/>
          </a:ln>
        </p:spPr>
      </p:sp>
      <p:sp>
        <p:nvSpPr>
          <p:cNvPr id="5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58"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8A250D-E558-4456-BAF8-41F77CE255A5}" type="slidenum">
              <a:rPr lang="en-US" sz="1200" b="0" u="none" strike="noStrike">
                <a:solidFill>
                  <a:srgbClr val="000000"/>
                </a:solidFill>
                <a:effectLst/>
                <a:uFillTx/>
                <a:latin typeface="Times New Roman"/>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noRot="1" noChangeAspect="1"/>
          </p:cNvSpPr>
          <p:nvPr>
            <p:ph type="sldImg"/>
          </p:nvPr>
        </p:nvSpPr>
        <p:spPr>
          <a:xfrm>
            <a:off x="685800" y="1143000"/>
            <a:ext cx="5486040" cy="3085920"/>
          </a:xfrm>
          <a:prstGeom prst="rect">
            <a:avLst/>
          </a:prstGeom>
          <a:ln w="0">
            <a:noFill/>
          </a:ln>
        </p:spPr>
      </p:sp>
      <p:sp>
        <p:nvSpPr>
          <p:cNvPr id="5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64"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1BC229-494D-44E7-8664-A9DD160E2D11}"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685800" y="1143000"/>
            <a:ext cx="5486040" cy="3085920"/>
          </a:xfrm>
          <a:prstGeom prst="rect">
            <a:avLst/>
          </a:prstGeom>
          <a:ln w="0">
            <a:noFill/>
          </a:ln>
        </p:spPr>
      </p:sp>
      <p:sp>
        <p:nvSpPr>
          <p:cNvPr id="5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67"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5D45C8B-486D-4093-9E8E-68D421F488FE}" type="slidenum">
              <a:rPr lang="en-US" sz="1200" b="0" u="none" strike="noStrike">
                <a:solidFill>
                  <a:srgbClr val="000000"/>
                </a:solidFill>
                <a:effectLst/>
                <a:uFillTx/>
                <a:latin typeface="Times New Roman"/>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noRot="1" noChangeAspect="1"/>
          </p:cNvSpPr>
          <p:nvPr>
            <p:ph type="sldImg"/>
          </p:nvPr>
        </p:nvSpPr>
        <p:spPr>
          <a:xfrm>
            <a:off x="685800" y="1143000"/>
            <a:ext cx="5486040" cy="3085920"/>
          </a:xfrm>
          <a:prstGeom prst="rect">
            <a:avLst/>
          </a:prstGeom>
          <a:ln w="0">
            <a:noFill/>
          </a:ln>
        </p:spPr>
      </p:sp>
      <p:sp>
        <p:nvSpPr>
          <p:cNvPr id="5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70"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EA2FC60-6B23-46AA-A496-8DD805519F97}"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PlaceHolder 1"/>
          <p:cNvSpPr>
            <a:spLocks noGrp="1" noRot="1" noChangeAspect="1"/>
          </p:cNvSpPr>
          <p:nvPr>
            <p:ph type="sldImg"/>
          </p:nvPr>
        </p:nvSpPr>
        <p:spPr>
          <a:xfrm>
            <a:off x="685800" y="1143000"/>
            <a:ext cx="5486040" cy="3085920"/>
          </a:xfrm>
          <a:prstGeom prst="rect">
            <a:avLst/>
          </a:prstGeom>
          <a:ln w="0">
            <a:noFill/>
          </a:ln>
        </p:spPr>
      </p:sp>
      <p:sp>
        <p:nvSpPr>
          <p:cNvPr id="5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73"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1739FB4-93B2-47C6-A117-29F6236DB0FC}" type="slidenum">
              <a:rPr lang="en-US" sz="1200" b="0" u="none" strike="noStrike">
                <a:solidFill>
                  <a:srgbClr val="000000"/>
                </a:solidFill>
                <a:effectLst/>
                <a:uFillTx/>
                <a:latin typeface="Times New Roman"/>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685800" y="1143000"/>
            <a:ext cx="5486040" cy="3085920"/>
          </a:xfrm>
          <a:prstGeom prst="rect">
            <a:avLst/>
          </a:prstGeom>
          <a:ln w="0">
            <a:noFill/>
          </a:ln>
        </p:spPr>
      </p:sp>
      <p:sp>
        <p:nvSpPr>
          <p:cNvPr id="5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76"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8BC3509-AF7A-4C24-B210-92C2F41E4EAF}" type="slidenum">
              <a:rPr lang="en-US" sz="1200" b="0" u="none" strike="noStrike">
                <a:solidFill>
                  <a:srgbClr val="000000"/>
                </a:solidFill>
                <a:effectLst/>
                <a:uFillTx/>
                <a:latin typeface="Times New Roman"/>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79"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225B376-54EA-4B1B-8ADD-059D563707BB}"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noRot="1" noChangeAspect="1"/>
          </p:cNvSpPr>
          <p:nvPr>
            <p:ph type="sldImg"/>
          </p:nvPr>
        </p:nvSpPr>
        <p:spPr>
          <a:xfrm>
            <a:off x="685800" y="1143000"/>
            <a:ext cx="5486040" cy="3085920"/>
          </a:xfrm>
          <a:prstGeom prst="rect">
            <a:avLst/>
          </a:prstGeom>
          <a:ln w="0">
            <a:noFill/>
          </a:ln>
        </p:spPr>
      </p:sp>
      <p:sp>
        <p:nvSpPr>
          <p:cNvPr id="5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85"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50B7C1C-515F-4184-B6D4-2E76F6720719}" type="slidenum">
              <a:rPr lang="en-US" sz="1200" b="0" u="none" strike="noStrike">
                <a:solidFill>
                  <a:srgbClr val="000000"/>
                </a:solidFill>
                <a:effectLst/>
                <a:uFillTx/>
                <a:latin typeface="Times New Roman"/>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noRot="1" noChangeAspect="1"/>
          </p:cNvSpPr>
          <p:nvPr>
            <p:ph type="sldImg"/>
          </p:nvPr>
        </p:nvSpPr>
        <p:spPr>
          <a:xfrm>
            <a:off x="685800" y="1143000"/>
            <a:ext cx="5486400" cy="3086100"/>
          </a:xfrm>
          <a:prstGeom prst="rect">
            <a:avLst/>
          </a:prstGeom>
          <a:ln w="0">
            <a:noFill/>
          </a:ln>
        </p:spPr>
      </p:sp>
      <p:sp>
        <p:nvSpPr>
          <p:cNvPr id="5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88"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8CE5A3-E1DA-4FDA-A1EB-0A582E62C24D}"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PlaceHolder 1"/>
          <p:cNvSpPr>
            <a:spLocks noGrp="1" noRot="1" noChangeAspect="1"/>
          </p:cNvSpPr>
          <p:nvPr>
            <p:ph type="sldImg"/>
          </p:nvPr>
        </p:nvSpPr>
        <p:spPr>
          <a:xfrm>
            <a:off x="685800" y="1143000"/>
            <a:ext cx="5486040" cy="3085920"/>
          </a:xfrm>
          <a:prstGeom prst="rect">
            <a:avLst/>
          </a:prstGeom>
          <a:ln w="0">
            <a:noFill/>
          </a:ln>
        </p:spPr>
      </p:sp>
      <p:sp>
        <p:nvSpPr>
          <p:cNvPr id="5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91"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503CE86-2DDC-412C-BDF9-2D9EF3110985}"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685800" y="1143000"/>
            <a:ext cx="5486040" cy="3085920"/>
          </a:xfrm>
          <a:prstGeom prst="rect">
            <a:avLst/>
          </a:prstGeom>
          <a:ln w="0">
            <a:noFill/>
          </a:ln>
        </p:spPr>
      </p:sp>
      <p:sp>
        <p:nvSpPr>
          <p:cNvPr id="5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594"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780F17D-7DD2-4C5A-9A26-5C98567229A3}"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6040" cy="3085920"/>
          </a:xfrm>
          <a:prstGeom prst="rect">
            <a:avLst/>
          </a:prstGeom>
          <a:ln w="0">
            <a:noFill/>
          </a:ln>
        </p:spPr>
      </p:sp>
      <p:sp>
        <p:nvSpPr>
          <p:cNvPr id="6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624"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6448F57-5B3F-42FC-BF46-0DC8B332A1CF}" type="slidenum">
              <a:rPr lang="en-US" sz="1200" b="0" u="none" strike="noStrike">
                <a:solidFill>
                  <a:srgbClr val="000000"/>
                </a:solidFill>
                <a:effectLst/>
                <a:uFillTx/>
                <a:latin typeface="Times New Roman"/>
              </a:rPr>
              <a:t>50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6040" cy="3085920"/>
          </a:xfrm>
          <a:prstGeom prst="rect">
            <a:avLst/>
          </a:prstGeom>
          <a:ln w="0">
            <a:noFill/>
          </a:ln>
        </p:spPr>
      </p:sp>
      <p:sp>
        <p:nvSpPr>
          <p:cNvPr id="6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627"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DDD45AC-986E-481C-AB92-3025A9B07D31}" type="slidenum">
              <a:rPr lang="en-US" sz="1200" b="0" u="none" strike="noStrike">
                <a:solidFill>
                  <a:srgbClr val="000000"/>
                </a:solidFill>
                <a:effectLst/>
                <a:uFillTx/>
                <a:latin typeface="Times New Roman"/>
              </a:rPr>
              <a:t>51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040" cy="3085920"/>
          </a:xfrm>
          <a:prstGeom prst="rect">
            <a:avLst/>
          </a:prstGeom>
          <a:ln w="0">
            <a:noFill/>
          </a:ln>
        </p:spPr>
      </p:sp>
      <p:sp>
        <p:nvSpPr>
          <p:cNvPr id="6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630"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B6B6662-D135-48AD-9BE0-B79D7F998D1A}" type="slidenum">
              <a:rPr lang="en-US" sz="1200" b="0" u="none" strike="noStrike">
                <a:solidFill>
                  <a:srgbClr val="000000"/>
                </a:solidFill>
                <a:effectLst/>
                <a:uFillTx/>
                <a:latin typeface="Times New Roman"/>
              </a:rPr>
              <a:t>52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040" cy="3085920"/>
          </a:xfrm>
          <a:prstGeom prst="rect">
            <a:avLst/>
          </a:prstGeom>
          <a:ln w="0">
            <a:noFill/>
          </a:ln>
        </p:spPr>
      </p:sp>
      <p:sp>
        <p:nvSpPr>
          <p:cNvPr id="6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633"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89A7C7E-464D-41BB-AF4F-61199F24F155}" type="slidenum">
              <a:rPr lang="en-US" sz="1200" b="0" u="none" strike="noStrike">
                <a:solidFill>
                  <a:srgbClr val="000000"/>
                </a:solidFill>
                <a:effectLst/>
                <a:uFillTx/>
                <a:latin typeface="Times New Roman"/>
              </a:rPr>
              <a:t>53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PlaceHolder 1"/>
          <p:cNvSpPr>
            <a:spLocks noGrp="1" noRot="1" noChangeAspect="1"/>
          </p:cNvSpPr>
          <p:nvPr>
            <p:ph type="sldImg"/>
          </p:nvPr>
        </p:nvSpPr>
        <p:spPr>
          <a:xfrm>
            <a:off x="685800" y="1143000"/>
            <a:ext cx="5486040" cy="3085920"/>
          </a:xfrm>
          <a:prstGeom prst="rect">
            <a:avLst/>
          </a:prstGeom>
          <a:ln w="0">
            <a:noFill/>
          </a:ln>
        </p:spPr>
      </p:sp>
      <p:sp>
        <p:nvSpPr>
          <p:cNvPr id="6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endParaRPr lang="en-US" sz="2000" b="0" u="none" strike="noStrike" dirty="0">
              <a:solidFill>
                <a:srgbClr val="000000"/>
              </a:solidFill>
              <a:effectLst/>
              <a:uFillTx/>
              <a:latin typeface="Arial"/>
              <a:cs typeface="Arial"/>
            </a:endParaRPr>
          </a:p>
        </p:txBody>
      </p:sp>
      <p:sp>
        <p:nvSpPr>
          <p:cNvPr id="636"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C123CB-DF82-4840-A3D6-56E73D4D94EE}" type="slidenum">
              <a:rPr lang="en-US" sz="1200" b="0" u="none" strike="noStrike">
                <a:solidFill>
                  <a:srgbClr val="000000"/>
                </a:solidFill>
                <a:effectLst/>
                <a:uFillTx/>
                <a:latin typeface="Times New Roman"/>
              </a:rPr>
              <a:t>54</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mailto:training-program-info@caida.org"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xt 3"/>
          <p:cNvSpPr/>
          <p:nvPr/>
        </p:nvSpPr>
        <p:spPr>
          <a:xfrm>
            <a:off x="1238400" y="1428840"/>
            <a:ext cx="880092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12">
                <a:solidFill>
                  <a:srgbClr val="A9C2E4"/>
                </a:solidFill>
                <a:effectLst/>
                <a:uFillTx/>
                <a:latin typeface="Arial"/>
                <a:ea typeface="Arial"/>
              </a:rPr>
              <a:t>ESCALATE TRAINING PROGRAM · SUMMER 2026</a:t>
            </a:r>
            <a:endParaRPr lang="en-US" sz="1950" b="0" u="none" strike="noStrike">
              <a:solidFill>
                <a:srgbClr val="000000"/>
              </a:solidFill>
              <a:effectLst/>
              <a:uFillTx/>
              <a:latin typeface="Arial"/>
            </a:endParaRPr>
          </a:p>
        </p:txBody>
      </p:sp>
      <p:sp>
        <p:nvSpPr>
          <p:cNvPr id="11" name="Text 4"/>
          <p:cNvSpPr/>
          <p:nvPr/>
        </p:nvSpPr>
        <p:spPr>
          <a:xfrm>
            <a:off x="1238400" y="1955880"/>
            <a:ext cx="8240760" cy="15530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2000"/>
              </a:lnSpc>
              <a:tabLst>
                <a:tab pos="0" algn="l"/>
              </a:tabLst>
            </a:pPr>
            <a:r>
              <a:rPr lang="en-US" sz="5850" b="0" u="none" strike="noStrike" spc="-88">
                <a:solidFill>
                  <a:srgbClr val="212529"/>
                </a:solidFill>
                <a:effectLst/>
                <a:uFillTx/>
                <a:latin typeface="Arial"/>
                <a:ea typeface="Arial"/>
              </a:rPr>
              <a:t>Data fusion: the Internet Yellow Pages</a:t>
            </a:r>
            <a:endParaRPr lang="en-US" sz="5850" b="0" u="none" strike="noStrike">
              <a:solidFill>
                <a:srgbClr val="000000"/>
              </a:solidFill>
              <a:effectLst/>
              <a:uFillTx/>
              <a:latin typeface="Arial"/>
            </a:endParaRPr>
          </a:p>
        </p:txBody>
      </p:sp>
      <p:sp>
        <p:nvSpPr>
          <p:cNvPr id="12" name="Text 5"/>
          <p:cNvSpPr/>
          <p:nvPr/>
        </p:nvSpPr>
        <p:spPr>
          <a:xfrm>
            <a:off x="1238400" y="3756960"/>
            <a:ext cx="8240760" cy="5763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550" b="0" u="none" strike="noStrike">
                <a:solidFill>
                  <a:srgbClr val="343A40"/>
                </a:solidFill>
                <a:effectLst/>
                <a:uFillTx/>
                <a:latin typeface="Arial"/>
                <a:ea typeface="Arial"/>
              </a:rPr>
              <a:t>Eighty datasets, one graph, one query</a:t>
            </a:r>
            <a:endParaRPr lang="en-US" sz="2550" b="0" u="none" strike="noStrike">
              <a:solidFill>
                <a:srgbClr val="000000"/>
              </a:solidFill>
              <a:effectLst/>
              <a:uFillTx/>
              <a:latin typeface="Arial"/>
            </a:endParaRPr>
          </a:p>
        </p:txBody>
      </p:sp>
      <p:sp>
        <p:nvSpPr>
          <p:cNvPr id="13" name="Text 6"/>
          <p:cNvSpPr/>
          <p:nvPr/>
        </p:nvSpPr>
        <p:spPr>
          <a:xfrm>
            <a:off x="1238400" y="7626240"/>
            <a:ext cx="278856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6C757D"/>
                </a:solidFill>
                <a:effectLst/>
                <a:uFillTx/>
                <a:latin typeface="Arial"/>
                <a:ea typeface="Arial"/>
              </a:rPr>
              <a:t>PLENARY</a:t>
            </a:r>
            <a:endParaRPr lang="en-US" sz="1800" b="0" u="none" strike="noStrike">
              <a:solidFill>
                <a:srgbClr val="000000"/>
              </a:solidFill>
              <a:effectLst/>
              <a:uFillTx/>
              <a:latin typeface="Arial"/>
            </a:endParaRPr>
          </a:p>
        </p:txBody>
      </p:sp>
      <p:sp>
        <p:nvSpPr>
          <p:cNvPr id="14" name="Text 7"/>
          <p:cNvSpPr/>
          <p:nvPr/>
        </p:nvSpPr>
        <p:spPr>
          <a:xfrm>
            <a:off x="1238400" y="7988400"/>
            <a:ext cx="2788560" cy="336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0" u="none" strike="noStrike">
                <a:solidFill>
                  <a:srgbClr val="212529"/>
                </a:solidFill>
                <a:effectLst/>
                <a:uFillTx/>
                <a:latin typeface="Arial"/>
                <a:ea typeface="Arial"/>
              </a:rPr>
              <a:t>Tue Aug 4 · 12:00 PT</a:t>
            </a:r>
            <a:endParaRPr lang="en-US" sz="1950" b="0" u="none" strike="noStrike">
              <a:solidFill>
                <a:srgbClr val="000000"/>
              </a:solidFill>
              <a:effectLst/>
              <a:uFillTx/>
              <a:latin typeface="Arial"/>
            </a:endParaRPr>
          </a:p>
        </p:txBody>
      </p:sp>
      <p:sp>
        <p:nvSpPr>
          <p:cNvPr id="15" name="Text 8"/>
          <p:cNvSpPr/>
          <p:nvPr/>
        </p:nvSpPr>
        <p:spPr>
          <a:xfrm>
            <a:off x="4158360" y="7626240"/>
            <a:ext cx="189504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6C757D"/>
                </a:solidFill>
                <a:effectLst/>
                <a:uFillTx/>
                <a:latin typeface="Arial"/>
                <a:ea typeface="Arial"/>
              </a:rPr>
              <a:t>INSTRUCTOR</a:t>
            </a:r>
            <a:endParaRPr lang="en-US" sz="1800" b="0" u="none" strike="noStrike">
              <a:solidFill>
                <a:srgbClr val="000000"/>
              </a:solidFill>
              <a:effectLst/>
              <a:uFillTx/>
              <a:latin typeface="Arial"/>
            </a:endParaRPr>
          </a:p>
        </p:txBody>
      </p:sp>
      <p:sp>
        <p:nvSpPr>
          <p:cNvPr id="16" name="Text 9"/>
          <p:cNvSpPr/>
          <p:nvPr/>
        </p:nvSpPr>
        <p:spPr>
          <a:xfrm>
            <a:off x="4158360" y="7988400"/>
            <a:ext cx="1895040" cy="336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0" u="none" strike="noStrike">
                <a:solidFill>
                  <a:srgbClr val="212529"/>
                </a:solidFill>
                <a:effectLst/>
                <a:uFillTx/>
                <a:latin typeface="Arial"/>
                <a:ea typeface="Arial"/>
              </a:rPr>
              <a:t>kc claffy</a:t>
            </a:r>
            <a:endParaRPr lang="en-US" sz="1950" b="0" u="none" strike="noStrike">
              <a:solidFill>
                <a:srgbClr val="000000"/>
              </a:solidFill>
              <a:effectLst/>
              <a:uFillTx/>
              <a:latin typeface="Arial"/>
            </a:endParaRPr>
          </a:p>
        </p:txBody>
      </p:sp>
      <p:sp>
        <p:nvSpPr>
          <p:cNvPr id="17" name="Text 10"/>
          <p:cNvSpPr/>
          <p:nvPr/>
        </p:nvSpPr>
        <p:spPr>
          <a:xfrm>
            <a:off x="6548040" y="7626240"/>
            <a:ext cx="525240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6C757D"/>
                </a:solidFill>
                <a:effectLst/>
                <a:uFillTx/>
                <a:latin typeface="Arial"/>
                <a:ea typeface="Arial"/>
              </a:rPr>
              <a:t>SENIOR MENTORS</a:t>
            </a:r>
            <a:endParaRPr lang="en-US" sz="1800" b="0" u="none" strike="noStrike">
              <a:solidFill>
                <a:srgbClr val="000000"/>
              </a:solidFill>
              <a:effectLst/>
              <a:uFillTx/>
              <a:latin typeface="Arial"/>
            </a:endParaRPr>
          </a:p>
        </p:txBody>
      </p:sp>
      <p:sp>
        <p:nvSpPr>
          <p:cNvPr id="18" name="Text 11"/>
          <p:cNvSpPr/>
          <p:nvPr/>
        </p:nvSpPr>
        <p:spPr>
          <a:xfrm>
            <a:off x="6548040" y="7988400"/>
            <a:ext cx="5252400" cy="336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0" u="none" strike="noStrike">
                <a:solidFill>
                  <a:srgbClr val="212529"/>
                </a:solidFill>
                <a:effectLst/>
                <a:uFillTx/>
                <a:latin typeface="Arial"/>
                <a:ea typeface="Arial"/>
              </a:rPr>
              <a:t>Ricky Mok · Bradley Huffaker · Rocky Chang</a:t>
            </a:r>
            <a:endParaRPr lang="en-US" sz="1950" b="0" u="none" strike="noStrike">
              <a:solidFill>
                <a:srgbClr val="000000"/>
              </a:solidFill>
              <a:effectLst/>
              <a:uFillTx/>
              <a:latin typeface="Arial"/>
            </a:endParaRPr>
          </a:p>
        </p:txBody>
      </p:sp>
      <p:sp>
        <p:nvSpPr>
          <p:cNvPr id="19" name="Text 12"/>
          <p:cNvSpPr/>
          <p:nvPr/>
        </p:nvSpPr>
        <p:spPr>
          <a:xfrm>
            <a:off x="11990160" y="7626240"/>
            <a:ext cx="294264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6C757D"/>
                </a:solidFill>
                <a:effectLst/>
                <a:uFillTx/>
                <a:latin typeface="Arial"/>
                <a:ea typeface="Arial"/>
              </a:rPr>
              <a:t>PROGRAM CONTACT</a:t>
            </a:r>
            <a:endParaRPr lang="en-US" sz="1800" b="0" u="none" strike="noStrike">
              <a:solidFill>
                <a:srgbClr val="000000"/>
              </a:solidFill>
              <a:effectLst/>
              <a:uFillTx/>
              <a:latin typeface="Arial"/>
            </a:endParaRPr>
          </a:p>
        </p:txBody>
      </p:sp>
      <p:sp>
        <p:nvSpPr>
          <p:cNvPr id="20" name="Text 13"/>
          <p:cNvSpPr/>
          <p:nvPr/>
        </p:nvSpPr>
        <p:spPr>
          <a:xfrm>
            <a:off x="11990160" y="7988400"/>
            <a:ext cx="2942640" cy="336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0" u="none" strike="noStrike">
                <a:solidFill>
                  <a:srgbClr val="212529"/>
                </a:solidFill>
                <a:effectLst/>
                <a:uFillTx/>
                <a:latin typeface="Arial"/>
                <a:ea typeface="Arial"/>
              </a:rPr>
              <a:t>Alex Ma</a:t>
            </a:r>
            <a:endParaRPr lang="en-US" sz="1950" b="0" u="none" strike="noStrike">
              <a:solidFill>
                <a:srgbClr val="000000"/>
              </a:solidFill>
              <a:effectLst/>
              <a:uFillTx/>
              <a:latin typeface="Arial"/>
            </a:endParaRPr>
          </a:p>
        </p:txBody>
      </p:sp>
      <p:pic>
        <p:nvPicPr>
          <p:cNvPr id="21" name="Image 0" descr="preencoded.png"/>
          <p:cNvPicPr/>
          <p:nvPr/>
        </p:nvPicPr>
        <p:blipFill>
          <a:blip r:embed="rId3"/>
          <a:stretch/>
        </p:blipFill>
        <p:spPr>
          <a:xfrm>
            <a:off x="1238400" y="8572680"/>
            <a:ext cx="925920" cy="914040"/>
          </a:xfrm>
          <a:prstGeom prst="rect">
            <a:avLst/>
          </a:prstGeom>
          <a:noFill/>
          <a:ln w="0">
            <a:noFill/>
          </a:ln>
        </p:spPr>
      </p:pic>
      <p:pic>
        <p:nvPicPr>
          <p:cNvPr id="22" name="Image 1" descr="preencoded.png"/>
          <p:cNvPicPr/>
          <p:nvPr/>
        </p:nvPicPr>
        <p:blipFill>
          <a:blip r:embed="rId4"/>
          <a:stretch/>
        </p:blipFill>
        <p:spPr>
          <a:xfrm>
            <a:off x="2355120" y="8572680"/>
            <a:ext cx="914040" cy="914040"/>
          </a:xfrm>
          <a:prstGeom prst="rect">
            <a:avLst/>
          </a:prstGeom>
          <a:noFill/>
          <a:ln w="0">
            <a:noFill/>
          </a:ln>
        </p:spPr>
      </p:pic>
      <p:sp>
        <p:nvSpPr>
          <p:cNvPr id="23" name="Text 14"/>
          <p:cNvSpPr/>
          <p:nvPr/>
        </p:nvSpPr>
        <p:spPr>
          <a:xfrm>
            <a:off x="3459960" y="8893080"/>
            <a:ext cx="627408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Supported by the NSF ESCALATE project · OAC-2519416</a:t>
            </a:r>
            <a:endParaRPr lang="en-US" sz="1800" b="0" u="none" strike="noStrike">
              <a:solidFill>
                <a:srgbClr val="000000"/>
              </a:solidFill>
              <a:effectLst/>
              <a:uFillTx/>
              <a:latin typeface="Arial"/>
            </a:endParaRPr>
          </a:p>
        </p:txBody>
      </p:sp>
      <p:pic>
        <p:nvPicPr>
          <p:cNvPr id="24" name="Picture 18" descr="f08_pipeline_vs_edge.png"/>
          <p:cNvPicPr/>
          <p:nvPr/>
        </p:nvPicPr>
        <p:blipFill>
          <a:blip r:embed="rId5"/>
          <a:stretch/>
        </p:blipFill>
        <p:spPr>
          <a:xfrm>
            <a:off x="9991080" y="1619280"/>
            <a:ext cx="6877800" cy="409536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6"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THE ARC</a:t>
            </a:r>
            <a:endParaRPr lang="en-US" sz="1950" b="0" u="none" strike="noStrike">
              <a:solidFill>
                <a:srgbClr val="000000"/>
              </a:solidFill>
              <a:effectLst/>
              <a:uFillTx/>
              <a:latin typeface="Arial"/>
            </a:endParaRPr>
          </a:p>
        </p:txBody>
      </p:sp>
      <p:sp>
        <p:nvSpPr>
          <p:cNvPr id="27"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Ten building blocks — you are here</a:t>
            </a:r>
            <a:endParaRPr lang="en-US" sz="4650" b="0" u="none" strike="noStrike">
              <a:solidFill>
                <a:srgbClr val="000000"/>
              </a:solidFill>
              <a:effectLst/>
              <a:uFillTx/>
              <a:latin typeface="Arial"/>
            </a:endParaRPr>
          </a:p>
        </p:txBody>
      </p:sp>
      <p:sp>
        <p:nvSpPr>
          <p:cNvPr id="28" name="Shape 3"/>
          <p:cNvSpPr/>
          <p:nvPr/>
        </p:nvSpPr>
        <p:spPr>
          <a:xfrm>
            <a:off x="1238400" y="2284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9" name="Text 4"/>
          <p:cNvSpPr/>
          <p:nvPr/>
        </p:nvSpPr>
        <p:spPr>
          <a:xfrm>
            <a:off x="1454040" y="250020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1</a:t>
            </a:r>
            <a:endParaRPr lang="en-US" sz="3450" b="0" u="none" strike="noStrike">
              <a:solidFill>
                <a:srgbClr val="000000"/>
              </a:solidFill>
              <a:effectLst/>
              <a:uFillTx/>
              <a:latin typeface="Arial"/>
            </a:endParaRPr>
          </a:p>
        </p:txBody>
      </p:sp>
      <p:sp>
        <p:nvSpPr>
          <p:cNvPr id="30" name="Text 5"/>
          <p:cNvSpPr/>
          <p:nvPr/>
        </p:nvSpPr>
        <p:spPr>
          <a:xfrm>
            <a:off x="1454040" y="3071520"/>
            <a:ext cx="263952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Internet structure &amp; ASNs</a:t>
            </a:r>
            <a:endParaRPr lang="en-US" sz="2400" b="0" u="none" strike="noStrike">
              <a:solidFill>
                <a:srgbClr val="000000"/>
              </a:solidFill>
              <a:effectLst/>
              <a:uFillTx/>
              <a:latin typeface="Arial"/>
            </a:endParaRPr>
          </a:p>
        </p:txBody>
      </p:sp>
      <p:sp>
        <p:nvSpPr>
          <p:cNvPr id="31" name="Shape 6"/>
          <p:cNvSpPr/>
          <p:nvPr/>
        </p:nvSpPr>
        <p:spPr>
          <a:xfrm>
            <a:off x="4442400" y="2284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2" name="Text 7"/>
          <p:cNvSpPr/>
          <p:nvPr/>
        </p:nvSpPr>
        <p:spPr>
          <a:xfrm>
            <a:off x="4658400" y="250020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2</a:t>
            </a:r>
            <a:endParaRPr lang="en-US" sz="3450" b="0" u="none" strike="noStrike">
              <a:solidFill>
                <a:srgbClr val="000000"/>
              </a:solidFill>
              <a:effectLst/>
              <a:uFillTx/>
              <a:latin typeface="Arial"/>
            </a:endParaRPr>
          </a:p>
        </p:txBody>
      </p:sp>
      <p:sp>
        <p:nvSpPr>
          <p:cNvPr id="33" name="Text 8"/>
          <p:cNvSpPr/>
          <p:nvPr/>
        </p:nvSpPr>
        <p:spPr>
          <a:xfrm>
            <a:off x="4658400" y="3071520"/>
            <a:ext cx="281880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BGP at scale</a:t>
            </a:r>
            <a:endParaRPr lang="en-US" sz="2400" b="0" u="none" strike="noStrike">
              <a:solidFill>
                <a:srgbClr val="000000"/>
              </a:solidFill>
              <a:effectLst/>
              <a:uFillTx/>
              <a:latin typeface="Arial"/>
            </a:endParaRPr>
          </a:p>
        </p:txBody>
      </p:sp>
      <p:sp>
        <p:nvSpPr>
          <p:cNvPr id="34" name="Shape 9"/>
          <p:cNvSpPr/>
          <p:nvPr/>
        </p:nvSpPr>
        <p:spPr>
          <a:xfrm>
            <a:off x="7646760" y="2284200"/>
            <a:ext cx="2994480" cy="3254760"/>
          </a:xfrm>
          <a:prstGeom prst="roundRect">
            <a:avLst>
              <a:gd name="adj" fmla="val 2544"/>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5" name="Text 10"/>
          <p:cNvSpPr/>
          <p:nvPr/>
        </p:nvSpPr>
        <p:spPr>
          <a:xfrm>
            <a:off x="7862400" y="250020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3</a:t>
            </a:r>
            <a:endParaRPr lang="en-US" sz="3450" b="0" u="none" strike="noStrike">
              <a:solidFill>
                <a:srgbClr val="000000"/>
              </a:solidFill>
              <a:effectLst/>
              <a:uFillTx/>
              <a:latin typeface="Arial"/>
            </a:endParaRPr>
          </a:p>
        </p:txBody>
      </p:sp>
      <p:sp>
        <p:nvSpPr>
          <p:cNvPr id="36" name="Text 11"/>
          <p:cNvSpPr/>
          <p:nvPr/>
        </p:nvSpPr>
        <p:spPr>
          <a:xfrm>
            <a:off x="7862400" y="3071520"/>
            <a:ext cx="263952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Registries: WHOIS / IRR / RPKI</a:t>
            </a:r>
            <a:endParaRPr lang="en-US" sz="2400" b="0" u="none" strike="noStrike">
              <a:solidFill>
                <a:srgbClr val="000000"/>
              </a:solidFill>
              <a:effectLst/>
              <a:uFillTx/>
              <a:latin typeface="Arial"/>
            </a:endParaRPr>
          </a:p>
        </p:txBody>
      </p:sp>
      <p:sp>
        <p:nvSpPr>
          <p:cNvPr id="37" name="Shape 12"/>
          <p:cNvSpPr/>
          <p:nvPr/>
        </p:nvSpPr>
        <p:spPr>
          <a:xfrm>
            <a:off x="10850760" y="2284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8" name="Text 13"/>
          <p:cNvSpPr/>
          <p:nvPr/>
        </p:nvSpPr>
        <p:spPr>
          <a:xfrm>
            <a:off x="11066760" y="250020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4</a:t>
            </a:r>
            <a:endParaRPr lang="en-US" sz="3450" b="0" u="none" strike="noStrike">
              <a:solidFill>
                <a:srgbClr val="000000"/>
              </a:solidFill>
              <a:effectLst/>
              <a:uFillTx/>
              <a:latin typeface="Arial"/>
            </a:endParaRPr>
          </a:p>
        </p:txBody>
      </p:sp>
      <p:sp>
        <p:nvSpPr>
          <p:cNvPr id="39" name="Text 14"/>
          <p:cNvSpPr/>
          <p:nvPr/>
        </p:nvSpPr>
        <p:spPr>
          <a:xfrm>
            <a:off x="11066760" y="3071520"/>
            <a:ext cx="281880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Traceroute, ITDK</a:t>
            </a:r>
            <a:endParaRPr lang="en-US" sz="2400" b="0" u="none" strike="noStrike">
              <a:solidFill>
                <a:srgbClr val="000000"/>
              </a:solidFill>
              <a:effectLst/>
              <a:uFillTx/>
              <a:latin typeface="Arial"/>
            </a:endParaRPr>
          </a:p>
        </p:txBody>
      </p:sp>
      <p:sp>
        <p:nvSpPr>
          <p:cNvPr id="40" name="Shape 15"/>
          <p:cNvSpPr/>
          <p:nvPr/>
        </p:nvSpPr>
        <p:spPr>
          <a:xfrm>
            <a:off x="14055120" y="2284200"/>
            <a:ext cx="2994480" cy="3254760"/>
          </a:xfrm>
          <a:prstGeom prst="roundRect">
            <a:avLst>
              <a:gd name="adj" fmla="val 2544"/>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1" name="Text 16"/>
          <p:cNvSpPr/>
          <p:nvPr/>
        </p:nvSpPr>
        <p:spPr>
          <a:xfrm>
            <a:off x="14270760" y="250020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5</a:t>
            </a:r>
            <a:endParaRPr lang="en-US" sz="3450" b="0" u="none" strike="noStrike">
              <a:solidFill>
                <a:srgbClr val="000000"/>
              </a:solidFill>
              <a:effectLst/>
              <a:uFillTx/>
              <a:latin typeface="Arial"/>
            </a:endParaRPr>
          </a:p>
        </p:txBody>
      </p:sp>
      <p:sp>
        <p:nvSpPr>
          <p:cNvPr id="42" name="Text 17"/>
          <p:cNvSpPr/>
          <p:nvPr/>
        </p:nvSpPr>
        <p:spPr>
          <a:xfrm>
            <a:off x="14270760" y="3071520"/>
            <a:ext cx="263952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DNS</a:t>
            </a:r>
            <a:endParaRPr lang="en-US" sz="2400" b="0" u="none" strike="noStrike">
              <a:solidFill>
                <a:srgbClr val="000000"/>
              </a:solidFill>
              <a:effectLst/>
              <a:uFillTx/>
              <a:latin typeface="Arial"/>
            </a:endParaRPr>
          </a:p>
        </p:txBody>
      </p:sp>
      <p:sp>
        <p:nvSpPr>
          <p:cNvPr id="43" name="Shape 18"/>
          <p:cNvSpPr/>
          <p:nvPr/>
        </p:nvSpPr>
        <p:spPr>
          <a:xfrm>
            <a:off x="1238400" y="5749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4" name="Text 19"/>
          <p:cNvSpPr/>
          <p:nvPr/>
        </p:nvSpPr>
        <p:spPr>
          <a:xfrm>
            <a:off x="1454040" y="596484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6</a:t>
            </a:r>
            <a:endParaRPr lang="en-US" sz="3450" b="0" u="none" strike="noStrike">
              <a:solidFill>
                <a:srgbClr val="000000"/>
              </a:solidFill>
              <a:effectLst/>
              <a:uFillTx/>
              <a:latin typeface="Arial"/>
            </a:endParaRPr>
          </a:p>
        </p:txBody>
      </p:sp>
      <p:sp>
        <p:nvSpPr>
          <p:cNvPr id="45" name="Text 20"/>
          <p:cNvSpPr/>
          <p:nvPr/>
        </p:nvSpPr>
        <p:spPr>
          <a:xfrm>
            <a:off x="1454040" y="6536520"/>
            <a:ext cx="2818800" cy="9384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nSpc>
                <a:spcPct val="125000"/>
              </a:lnSpc>
              <a:tabLst>
                <a:tab pos="0" algn="l"/>
              </a:tabLst>
            </a:pPr>
            <a:r>
              <a:rPr lang="en-US" sz="2400">
                <a:solidFill>
                  <a:srgbClr val="343A40"/>
                </a:solidFill>
                <a:latin typeface="Arial"/>
              </a:rPr>
              <a:t>Network telescope Part 1</a:t>
            </a:r>
            <a:endParaRPr lang="en-US"/>
          </a:p>
        </p:txBody>
      </p:sp>
      <p:sp>
        <p:nvSpPr>
          <p:cNvPr id="46" name="Shape 21"/>
          <p:cNvSpPr/>
          <p:nvPr/>
        </p:nvSpPr>
        <p:spPr>
          <a:xfrm>
            <a:off x="4442400" y="5749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47" name="Text 22"/>
          <p:cNvSpPr/>
          <p:nvPr/>
        </p:nvSpPr>
        <p:spPr>
          <a:xfrm>
            <a:off x="4658400" y="596484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7</a:t>
            </a:r>
            <a:endParaRPr lang="en-US" sz="3450" b="0" u="none" strike="noStrike">
              <a:solidFill>
                <a:srgbClr val="000000"/>
              </a:solidFill>
              <a:effectLst/>
              <a:uFillTx/>
              <a:latin typeface="Arial"/>
            </a:endParaRPr>
          </a:p>
        </p:txBody>
      </p:sp>
      <p:sp>
        <p:nvSpPr>
          <p:cNvPr id="48" name="Text 23"/>
          <p:cNvSpPr/>
          <p:nvPr/>
        </p:nvSpPr>
        <p:spPr>
          <a:xfrm>
            <a:off x="4658400" y="6536520"/>
            <a:ext cx="2818800" cy="929552"/>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nSpc>
                <a:spcPct val="125000"/>
              </a:lnSpc>
              <a:tabLst>
                <a:tab pos="0" algn="l"/>
              </a:tabLst>
            </a:pPr>
            <a:r>
              <a:rPr lang="en-US" sz="2400" b="0" u="none" strike="noStrike" dirty="0">
                <a:solidFill>
                  <a:srgbClr val="343A40"/>
                </a:solidFill>
                <a:effectLst/>
                <a:uFillTx/>
                <a:latin typeface="Arial"/>
                <a:ea typeface="Arial"/>
              </a:rPr>
              <a:t>Network telescope</a:t>
            </a:r>
            <a:r>
              <a:rPr lang="en-US" sz="2400" dirty="0">
                <a:solidFill>
                  <a:srgbClr val="343A40"/>
                </a:solidFill>
                <a:latin typeface="Arial"/>
                <a:ea typeface="Arial"/>
              </a:rPr>
              <a:t> </a:t>
            </a:r>
            <a:r>
              <a:rPr lang="en-US" sz="2400">
                <a:solidFill>
                  <a:srgbClr val="343A40"/>
                </a:solidFill>
                <a:latin typeface="Arial"/>
                <a:ea typeface="Arial"/>
              </a:rPr>
              <a:t>Part 2</a:t>
            </a:r>
          </a:p>
        </p:txBody>
      </p:sp>
      <p:sp>
        <p:nvSpPr>
          <p:cNvPr id="49" name="Shape 24"/>
          <p:cNvSpPr/>
          <p:nvPr/>
        </p:nvSpPr>
        <p:spPr>
          <a:xfrm>
            <a:off x="7646760" y="5749200"/>
            <a:ext cx="2994480" cy="3254760"/>
          </a:xfrm>
          <a:prstGeom prst="roundRect">
            <a:avLst>
              <a:gd name="adj" fmla="val 2544"/>
            </a:avLst>
          </a:prstGeom>
          <a:solidFill>
            <a:srgbClr val="E9EFF7"/>
          </a:solidFill>
          <a:ln w="6350">
            <a:solidFill>
              <a:srgbClr val="2B518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50" name="Text 25"/>
          <p:cNvSpPr/>
          <p:nvPr/>
        </p:nvSpPr>
        <p:spPr>
          <a:xfrm>
            <a:off x="7862400" y="596484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2B5187"/>
                </a:solidFill>
                <a:effectLst/>
                <a:uFillTx/>
                <a:latin typeface="Arial"/>
                <a:ea typeface="Arial"/>
              </a:rPr>
              <a:t>8</a:t>
            </a:r>
            <a:endParaRPr lang="en-US" sz="3450" b="0" u="none" strike="noStrike">
              <a:solidFill>
                <a:srgbClr val="000000"/>
              </a:solidFill>
              <a:effectLst/>
              <a:uFillTx/>
              <a:latin typeface="Arial"/>
            </a:endParaRPr>
          </a:p>
        </p:txBody>
      </p:sp>
      <p:sp>
        <p:nvSpPr>
          <p:cNvPr id="51" name="Text 26"/>
          <p:cNvSpPr/>
          <p:nvPr/>
        </p:nvSpPr>
        <p:spPr>
          <a:xfrm>
            <a:off x="7862400" y="6536520"/>
            <a:ext cx="281880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1" u="none" strike="noStrike">
                <a:solidFill>
                  <a:srgbClr val="212529"/>
                </a:solidFill>
                <a:effectLst/>
                <a:uFillTx/>
                <a:latin typeface="Arial"/>
                <a:ea typeface="Arial"/>
              </a:rPr>
              <a:t>Data fusion (IYP)</a:t>
            </a:r>
            <a:endParaRPr lang="en-US" sz="2400" b="0" u="none" strike="noStrike">
              <a:solidFill>
                <a:srgbClr val="000000"/>
              </a:solidFill>
              <a:effectLst/>
              <a:uFillTx/>
              <a:latin typeface="Arial"/>
            </a:endParaRPr>
          </a:p>
        </p:txBody>
      </p:sp>
      <p:sp>
        <p:nvSpPr>
          <p:cNvPr id="52" name="Shape 27"/>
          <p:cNvSpPr/>
          <p:nvPr/>
        </p:nvSpPr>
        <p:spPr>
          <a:xfrm>
            <a:off x="10850760" y="5749200"/>
            <a:ext cx="2994120" cy="3254760"/>
          </a:xfrm>
          <a:prstGeom prst="roundRect">
            <a:avLst>
              <a:gd name="adj" fmla="val 2545"/>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53" name="Text 28"/>
          <p:cNvSpPr/>
          <p:nvPr/>
        </p:nvSpPr>
        <p:spPr>
          <a:xfrm>
            <a:off x="11066760" y="596484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9</a:t>
            </a:r>
            <a:endParaRPr lang="en-US" sz="3450" b="0" u="none" strike="noStrike">
              <a:solidFill>
                <a:srgbClr val="000000"/>
              </a:solidFill>
              <a:effectLst/>
              <a:uFillTx/>
              <a:latin typeface="Arial"/>
            </a:endParaRPr>
          </a:p>
        </p:txBody>
      </p:sp>
      <p:sp>
        <p:nvSpPr>
          <p:cNvPr id="54" name="Text 29"/>
          <p:cNvSpPr/>
          <p:nvPr/>
        </p:nvSpPr>
        <p:spPr>
          <a:xfrm>
            <a:off x="11066760" y="6536520"/>
            <a:ext cx="2818800" cy="9384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nSpc>
                <a:spcPct val="125000"/>
              </a:lnSpc>
              <a:tabLst>
                <a:tab pos="0" algn="l"/>
              </a:tabLst>
            </a:pPr>
            <a:r>
              <a:rPr lang="en-US" sz="2400">
                <a:solidFill>
                  <a:srgbClr val="343A40"/>
                </a:solidFill>
                <a:latin typeface="Arial"/>
              </a:rPr>
              <a:t>Stories of the Internet</a:t>
            </a:r>
            <a:endParaRPr lang="en-US"/>
          </a:p>
        </p:txBody>
      </p:sp>
      <p:sp>
        <p:nvSpPr>
          <p:cNvPr id="55" name="Shape 30"/>
          <p:cNvSpPr/>
          <p:nvPr/>
        </p:nvSpPr>
        <p:spPr>
          <a:xfrm>
            <a:off x="14055120" y="5749200"/>
            <a:ext cx="2994480" cy="3254760"/>
          </a:xfrm>
          <a:prstGeom prst="roundRect">
            <a:avLst>
              <a:gd name="adj" fmla="val 2544"/>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56" name="Text 31"/>
          <p:cNvSpPr/>
          <p:nvPr/>
        </p:nvSpPr>
        <p:spPr>
          <a:xfrm>
            <a:off x="14270760" y="5964840"/>
            <a:ext cx="2818800" cy="475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450" b="0" u="none" strike="noStrike">
                <a:solidFill>
                  <a:srgbClr val="C2C8D2"/>
                </a:solidFill>
                <a:effectLst/>
                <a:uFillTx/>
                <a:latin typeface="Arial"/>
                <a:ea typeface="Arial"/>
              </a:rPr>
              <a:t>10</a:t>
            </a:r>
            <a:endParaRPr lang="en-US" sz="3450" b="0" u="none" strike="noStrike">
              <a:solidFill>
                <a:srgbClr val="000000"/>
              </a:solidFill>
              <a:effectLst/>
              <a:uFillTx/>
              <a:latin typeface="Arial"/>
            </a:endParaRPr>
          </a:p>
        </p:txBody>
      </p:sp>
      <p:sp>
        <p:nvSpPr>
          <p:cNvPr id="57" name="Text 32"/>
          <p:cNvSpPr/>
          <p:nvPr/>
        </p:nvSpPr>
        <p:spPr>
          <a:xfrm>
            <a:off x="14270760" y="6536520"/>
            <a:ext cx="2818800" cy="776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25000"/>
              </a:lnSpc>
              <a:tabLst>
                <a:tab pos="0" algn="l"/>
              </a:tabLst>
            </a:pPr>
            <a:r>
              <a:rPr lang="en-US" sz="2400" b="0" u="none" strike="noStrike">
                <a:solidFill>
                  <a:srgbClr val="343A40"/>
                </a:solidFill>
                <a:effectLst/>
                <a:uFillTx/>
                <a:latin typeface="Arial"/>
                <a:ea typeface="Arial"/>
              </a:rPr>
              <a:t>SDSC hackathon</a:t>
            </a:r>
            <a:endParaRPr lang="en-US" sz="2400" b="0" u="none" strike="noStrike">
              <a:solidFill>
                <a:srgbClr val="000000"/>
              </a:solidFill>
              <a:effectLst/>
              <a:uFillTx/>
              <a:latin typeface="Arial"/>
            </a:endParaRPr>
          </a:p>
        </p:txBody>
      </p:sp>
      <p:sp>
        <p:nvSpPr>
          <p:cNvPr id="58" name="Text 33"/>
          <p:cNvSpPr/>
          <p:nvPr/>
        </p:nvSpPr>
        <p:spPr>
          <a:xfrm>
            <a:off x="1238400" y="9110160"/>
            <a:ext cx="17392320" cy="411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400" b="0" u="none" strike="noStrike">
                <a:solidFill>
                  <a:srgbClr val="6C757D"/>
                </a:solidFill>
                <a:effectLst/>
                <a:uFillTx/>
                <a:latin typeface="Arial"/>
                <a:ea typeface="Arial"/>
              </a:rPr>
              <a:t>Weeks 1-7 built one block at a time. This week fuses them, and the hackathon puts them to work.</a:t>
            </a:r>
            <a:endParaRPr lang="en-US" sz="2400" b="0" u="none" strike="noStrike">
              <a:solidFill>
                <a:srgbClr val="000000"/>
              </a:solidFill>
              <a:effectLst/>
              <a:uFillTx/>
              <a:latin typeface="Arial"/>
            </a:endParaRPr>
          </a:p>
        </p:txBody>
      </p:sp>
      <p:sp>
        <p:nvSpPr>
          <p:cNvPr id="59" name="Text 34"/>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EF5719D-233B-972E-D883-58A132D35A47}"/>
              </a:ext>
            </a:extLst>
          </p:cNvPr>
          <p:cNvPicPr>
            <a:picLocks noChangeAspect="1"/>
          </p:cNvPicPr>
          <p:nvPr/>
        </p:nvPicPr>
        <p:blipFill>
          <a:blip r:embed="rId3"/>
          <a:stretch>
            <a:fillRect/>
          </a:stretch>
        </p:blipFill>
        <p:spPr>
          <a:xfrm>
            <a:off x="1239078" y="3808344"/>
            <a:ext cx="4185435" cy="4181061"/>
          </a:xfrm>
          <a:prstGeom prst="rect">
            <a:avLst/>
          </a:prstGeom>
        </p:spPr>
      </p:pic>
      <p:sp>
        <p:nvSpPr>
          <p:cNvPr id="60"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61"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GUEST SPEAKER</a:t>
            </a:r>
            <a:endParaRPr lang="en-US" sz="1950" b="0" u="none" strike="noStrike">
              <a:solidFill>
                <a:srgbClr val="000000"/>
              </a:solidFill>
              <a:effectLst/>
              <a:uFillTx/>
              <a:latin typeface="Arial"/>
            </a:endParaRPr>
          </a:p>
        </p:txBody>
      </p:sp>
      <p:sp>
        <p:nvSpPr>
          <p:cNvPr id="62"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Today’s guest</a:t>
            </a:r>
            <a:endParaRPr lang="en-US" sz="4650" b="0" u="none" strike="noStrike">
              <a:solidFill>
                <a:srgbClr val="000000"/>
              </a:solidFill>
              <a:effectLst/>
              <a:uFillTx/>
              <a:latin typeface="Arial"/>
            </a:endParaRPr>
          </a:p>
        </p:txBody>
      </p:sp>
      <p:sp>
        <p:nvSpPr>
          <p:cNvPr id="66" name="Text 6"/>
          <p:cNvSpPr/>
          <p:nvPr/>
        </p:nvSpPr>
        <p:spPr>
          <a:xfrm>
            <a:off x="6095880" y="3767760"/>
            <a:ext cx="12048840" cy="57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050" b="0" u="none" strike="noStrike" spc="-40">
                <a:solidFill>
                  <a:srgbClr val="212529"/>
                </a:solidFill>
                <a:effectLst/>
                <a:uFillTx/>
                <a:latin typeface="Arial"/>
                <a:ea typeface="Arial"/>
              </a:rPr>
              <a:t>Malte Tashiro</a:t>
            </a:r>
            <a:endParaRPr lang="en-US" sz="4050" b="0" u="none" strike="noStrike">
              <a:solidFill>
                <a:srgbClr val="000000"/>
              </a:solidFill>
              <a:effectLst/>
              <a:uFillTx/>
              <a:latin typeface="Arial"/>
            </a:endParaRPr>
          </a:p>
        </p:txBody>
      </p:sp>
      <p:sp>
        <p:nvSpPr>
          <p:cNvPr id="67" name="Text 7"/>
          <p:cNvSpPr/>
          <p:nvPr/>
        </p:nvSpPr>
        <p:spPr>
          <a:xfrm>
            <a:off x="6095880" y="4440960"/>
            <a:ext cx="12048840" cy="425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550" b="0" u="none" strike="noStrike">
                <a:solidFill>
                  <a:srgbClr val="2B5187"/>
                </a:solidFill>
                <a:effectLst/>
                <a:uFillTx/>
                <a:latin typeface="Arial"/>
                <a:ea typeface="Arial"/>
              </a:rPr>
              <a:t>IIJ Research Laboratory / SOKENDAI</a:t>
            </a:r>
            <a:endParaRPr lang="en-US" sz="2550" b="0" u="none" strike="noStrike">
              <a:solidFill>
                <a:srgbClr val="000000"/>
              </a:solidFill>
              <a:effectLst/>
              <a:uFillTx/>
              <a:latin typeface="Arial"/>
            </a:endParaRPr>
          </a:p>
        </p:txBody>
      </p:sp>
      <p:sp>
        <p:nvSpPr>
          <p:cNvPr id="68" name="Text 8"/>
          <p:cNvSpPr/>
          <p:nvPr/>
        </p:nvSpPr>
        <p:spPr>
          <a:xfrm>
            <a:off x="6095880" y="5114160"/>
            <a:ext cx="8829360" cy="10512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2600" b="0" u="none" strike="noStrike">
                <a:solidFill>
                  <a:srgbClr val="343A40"/>
                </a:solidFill>
                <a:effectLst/>
                <a:uFillTx/>
                <a:latin typeface="Arial"/>
                <a:ea typeface="Arial"/>
              </a:rPr>
              <a:t>Co-author of the IYP paper and maintainer of the IYP codebase. Member of the ETP program committee.</a:t>
            </a:r>
            <a:endParaRPr lang="en-US" sz="2600" b="0" u="none" strike="noStrike">
              <a:solidFill>
                <a:srgbClr val="000000"/>
              </a:solidFill>
              <a:effectLst/>
              <a:uFillTx/>
              <a:latin typeface="Arial"/>
            </a:endParaRPr>
          </a:p>
        </p:txBody>
      </p:sp>
      <p:sp>
        <p:nvSpPr>
          <p:cNvPr id="69" name="Shape 9"/>
          <p:cNvSpPr/>
          <p:nvPr/>
        </p:nvSpPr>
        <p:spPr>
          <a:xfrm>
            <a:off x="6095880" y="6330240"/>
            <a:ext cx="8572320" cy="2081880"/>
          </a:xfrm>
          <a:prstGeom prst="roundRect">
            <a:avLst>
              <a:gd name="adj" fmla="val 5205"/>
            </a:avLst>
          </a:prstGeom>
          <a:solidFill>
            <a:srgbClr val="E9EFF7"/>
          </a:solidFill>
          <a:ln w="6350">
            <a:solidFill>
              <a:srgbClr val="2B5187"/>
            </a:solidFill>
            <a:round/>
          </a:ln>
        </p:spPr>
        <p:style>
          <a:lnRef idx="0">
            <a:scrgbClr r="0" g="0" b="0"/>
          </a:lnRef>
          <a:fillRef idx="0">
            <a:scrgbClr r="0" g="0" b="0"/>
          </a:fillRef>
          <a:effectRef idx="0">
            <a:scrgbClr r="0" g="0" b="0"/>
          </a:effectRef>
          <a:fontRef idx="minor"/>
        </p:style>
        <p:txBody>
          <a:bodyPr lIns="349200" tIns="311040" rIns="349200" bIns="311040" anchor="t">
            <a:spAutoFit/>
          </a:bodyPr>
          <a:lstStyle/>
          <a:p>
            <a:pPr defTabSz="914400">
              <a:lnSpc>
                <a:spcPct val="100000"/>
              </a:lnSpc>
              <a:tabLst>
                <a:tab pos="0" algn="l"/>
              </a:tabLst>
            </a:pPr>
            <a:r>
              <a:rPr lang="en-US" sz="1800" b="1" u="none" strike="noStrike" spc="181">
                <a:solidFill>
                  <a:srgbClr val="2B5187"/>
                </a:solidFill>
                <a:effectLst/>
                <a:uFillTx/>
                <a:latin typeface="Arial"/>
                <a:ea typeface="Arial"/>
              </a:rPr>
              <a:t>ON TODAY’S AGENDA</a:t>
            </a:r>
            <a:endParaRPr lang="en-US" sz="1800" b="0" u="none" strike="noStrike">
              <a:solidFill>
                <a:srgbClr val="000000"/>
              </a:solidFill>
              <a:effectLst/>
              <a:uFillTx/>
              <a:latin typeface="Arial"/>
            </a:endParaRPr>
          </a:p>
          <a:p>
            <a:pPr defTabSz="914400">
              <a:lnSpc>
                <a:spcPct val="140000"/>
              </a:lnSpc>
              <a:spcBef>
                <a:spcPts val="601"/>
              </a:spcBef>
              <a:tabLst>
                <a:tab pos="0" algn="l"/>
              </a:tabLst>
            </a:pPr>
            <a:r>
              <a:rPr lang="en-US" sz="2600" b="0" u="none" strike="noStrike">
                <a:solidFill>
                  <a:srgbClr val="212529"/>
                </a:solidFill>
                <a:effectLst/>
                <a:uFillTx/>
                <a:latin typeface="Arial"/>
                <a:ea typeface="Arial"/>
              </a:rPr>
              <a:t>What IYP is, how to query it, and what to ask it at the hackathon.</a:t>
            </a:r>
            <a:endParaRPr lang="en-US" sz="2600" b="0" u="none" strike="noStrike">
              <a:solidFill>
                <a:srgbClr val="000000"/>
              </a:solidFill>
              <a:effectLst/>
              <a:uFillTx/>
              <a:latin typeface="Arial"/>
            </a:endParaRPr>
          </a:p>
        </p:txBody>
      </p:sp>
      <p:sp>
        <p:nvSpPr>
          <p:cNvPr id="70" name="Text 12"/>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72"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LAST WEEK · RECAP</a:t>
            </a:r>
            <a:endParaRPr lang="en-US" sz="1950" b="0" u="none" strike="noStrike">
              <a:solidFill>
                <a:srgbClr val="000000"/>
              </a:solidFill>
              <a:effectLst/>
              <a:uFillTx/>
              <a:latin typeface="Arial"/>
            </a:endParaRPr>
          </a:p>
        </p:txBody>
      </p:sp>
      <p:sp>
        <p:nvSpPr>
          <p:cNvPr id="73"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Last week: one sensor, one format, your own aggregation</a:t>
            </a:r>
            <a:endParaRPr lang="en-US" sz="4650" b="0" u="none" strike="noStrike">
              <a:solidFill>
                <a:srgbClr val="000000"/>
              </a:solidFill>
              <a:effectLst/>
              <a:uFillTx/>
              <a:latin typeface="Arial"/>
            </a:endParaRPr>
          </a:p>
        </p:txBody>
      </p:sp>
      <p:sp>
        <p:nvSpPr>
          <p:cNvPr id="74" name="Text 4"/>
          <p:cNvSpPr/>
          <p:nvPr/>
        </p:nvSpPr>
        <p:spPr>
          <a:xfrm>
            <a:off x="1238400" y="5068440"/>
            <a:ext cx="1076688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C2C8D2"/>
              </a:buClr>
              <a:buFont typeface="Arial"/>
              <a:buChar char="▪"/>
            </a:pPr>
            <a:r>
              <a:rPr lang="en-US" sz="3000" b="0" u="none" strike="noStrike">
                <a:solidFill>
                  <a:srgbClr val="343A40"/>
                </a:solidFill>
                <a:effectLst/>
                <a:uFillTx/>
                <a:latin typeface="Arial"/>
                <a:ea typeface="Arial"/>
              </a:rPr>
              <a:t>The telescope gave you raw flow records and nothing else.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C2C8D2"/>
              </a:buClr>
              <a:buFont typeface="Arial"/>
              <a:buChar char="▪"/>
            </a:pPr>
            <a:r>
              <a:rPr lang="en-US" sz="3000" b="0" u="none" strike="noStrike">
                <a:solidFill>
                  <a:srgbClr val="343A40"/>
                </a:solidFill>
                <a:effectLst/>
                <a:uFillTx/>
                <a:latin typeface="Arial"/>
                <a:ea typeface="Arial"/>
              </a:rPr>
              <a:t>You wrote the geolocation join, the ASN attribution, the daily rollup.</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C2C8D2"/>
              </a:buClr>
              <a:buFont typeface="Arial"/>
              <a:buChar char="▪"/>
            </a:pPr>
            <a:r>
              <a:rPr lang="en-US" sz="3000" b="0" u="none" strike="noStrike">
                <a:solidFill>
                  <a:srgbClr val="343A40"/>
                </a:solidFill>
                <a:effectLst/>
                <a:uFillTx/>
                <a:latin typeface="Arial"/>
                <a:ea typeface="Arial"/>
              </a:rPr>
              <a:t>Every answer cost a pipeline before it cost an insight.</a:t>
            </a:r>
            <a:endParaRPr lang="en-US" sz="3000" b="0" u="none" strike="noStrike">
              <a:solidFill>
                <a:srgbClr val="000000"/>
              </a:solidFill>
              <a:effectLst/>
              <a:uFillTx/>
              <a:latin typeface="Arial"/>
            </a:endParaRPr>
          </a:p>
        </p:txBody>
      </p:sp>
      <p:sp>
        <p:nvSpPr>
          <p:cNvPr id="75" name="Shape 9"/>
          <p:cNvSpPr/>
          <p:nvPr/>
        </p:nvSpPr>
        <p:spPr>
          <a:xfrm>
            <a:off x="12096720" y="4668480"/>
            <a:ext cx="4952520" cy="2699280"/>
          </a:xfrm>
          <a:prstGeom prst="roundRect">
            <a:avLst>
              <a:gd name="adj" fmla="val 3824"/>
            </a:avLst>
          </a:prstGeom>
          <a:solidFill>
            <a:srgbClr val="E9EFF7"/>
          </a:solidFill>
          <a:ln w="6350">
            <a:solidFill>
              <a:srgbClr val="2B5187"/>
            </a:solidFill>
            <a:round/>
          </a:ln>
        </p:spPr>
        <p:style>
          <a:lnRef idx="0">
            <a:scrgbClr r="0" g="0" b="0"/>
          </a:lnRef>
          <a:fillRef idx="0">
            <a:scrgbClr r="0" g="0" b="0"/>
          </a:fillRef>
          <a:effectRef idx="0">
            <a:scrgbClr r="0" g="0" b="0"/>
          </a:effectRef>
          <a:fontRef idx="minor"/>
        </p:style>
        <p:txBody>
          <a:bodyPr lIns="406440" tIns="406440" rIns="406440" bIns="406440" anchor="t">
            <a:spAutoFit/>
          </a:bodyPr>
          <a:lstStyle/>
          <a:p>
            <a:pPr defTabSz="914400">
              <a:lnSpc>
                <a:spcPct val="100000"/>
              </a:lnSpc>
              <a:tabLst>
                <a:tab pos="0" algn="l"/>
              </a:tabLst>
            </a:pPr>
            <a:r>
              <a:rPr lang="en-US" sz="1800" b="1" u="none" strike="noStrike" spc="181">
                <a:solidFill>
                  <a:srgbClr val="2B5187"/>
                </a:solidFill>
                <a:effectLst/>
                <a:uFillTx/>
                <a:latin typeface="Arial"/>
                <a:ea typeface="Arial"/>
              </a:rPr>
              <a:t>THIS WEEK BUILDS ON IT</a:t>
            </a:r>
            <a:endParaRPr lang="en-US" sz="1800" b="0" u="none" strike="noStrike">
              <a:solidFill>
                <a:srgbClr val="000000"/>
              </a:solidFill>
              <a:effectLst/>
              <a:uFillTx/>
              <a:latin typeface="Arial"/>
            </a:endParaRPr>
          </a:p>
          <a:p>
            <a:pPr defTabSz="914400">
              <a:lnSpc>
                <a:spcPct val="140000"/>
              </a:lnSpc>
              <a:spcBef>
                <a:spcPts val="601"/>
              </a:spcBef>
              <a:tabLst>
                <a:tab pos="0" algn="l"/>
              </a:tabLst>
            </a:pPr>
            <a:r>
              <a:rPr lang="en-US" sz="2400" b="0" u="none" strike="noStrike">
                <a:solidFill>
                  <a:srgbClr val="212529"/>
                </a:solidFill>
                <a:effectLst/>
                <a:uFillTx/>
                <a:latin typeface="Arial"/>
                <a:ea typeface="Arial"/>
              </a:rPr>
              <a:t>This week the joins arrive already done, and the questions get much shorter.</a:t>
            </a:r>
            <a:endParaRPr lang="en-US" sz="2400" b="0" u="none" strike="noStrike">
              <a:solidFill>
                <a:srgbClr val="000000"/>
              </a:solidFill>
              <a:effectLst/>
              <a:uFillTx/>
              <a:latin typeface="Arial"/>
            </a:endParaRPr>
          </a:p>
        </p:txBody>
      </p:sp>
      <p:sp>
        <p:nvSpPr>
          <p:cNvPr id="76" name="Text 12"/>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78" name="Text 1"/>
          <p:cNvSpPr/>
          <p:nvPr/>
        </p:nvSpPr>
        <p:spPr>
          <a:xfrm>
            <a:off x="1238400" y="3419640"/>
            <a:ext cx="1466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THE QUESTION</a:t>
            </a:r>
            <a:endParaRPr lang="en-US" sz="1950" b="0" u="none" strike="noStrike">
              <a:solidFill>
                <a:srgbClr val="000000"/>
              </a:solidFill>
              <a:effectLst/>
              <a:uFillTx/>
              <a:latin typeface="Arial"/>
            </a:endParaRPr>
          </a:p>
        </p:txBody>
      </p:sp>
      <p:sp>
        <p:nvSpPr>
          <p:cNvPr id="79" name="Text 2"/>
          <p:cNvSpPr/>
          <p:nvPr/>
        </p:nvSpPr>
        <p:spPr>
          <a:xfrm>
            <a:off x="1238400" y="3965760"/>
            <a:ext cx="13734720" cy="1765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8000"/>
              </a:lnSpc>
              <a:tabLst>
                <a:tab pos="0" algn="l"/>
              </a:tabLst>
            </a:pPr>
            <a:r>
              <a:rPr lang="en-US" sz="6300" b="0" u="none" strike="noStrike" spc="-94">
                <a:solidFill>
                  <a:srgbClr val="212529"/>
                </a:solidFill>
                <a:effectLst/>
                <a:uFillTx/>
                <a:latin typeface="Arial"/>
                <a:ea typeface="Arial"/>
              </a:rPr>
              <a:t>What would you ask if the datasets were already joined?</a:t>
            </a:r>
            <a:endParaRPr lang="en-US" sz="6300" b="0" u="none" strike="noStrike">
              <a:solidFill>
                <a:srgbClr val="000000"/>
              </a:solidFill>
              <a:effectLst/>
              <a:uFillTx/>
              <a:latin typeface="Arial"/>
            </a:endParaRPr>
          </a:p>
        </p:txBody>
      </p:sp>
      <p:sp>
        <p:nvSpPr>
          <p:cNvPr id="80" name="Text 3"/>
          <p:cNvSpPr/>
          <p:nvPr/>
        </p:nvSpPr>
        <p:spPr>
          <a:xfrm>
            <a:off x="1238400" y="6036840"/>
            <a:ext cx="10791360" cy="944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2550" b="0" u="none" strike="noStrike">
                <a:solidFill>
                  <a:srgbClr val="6C757D"/>
                </a:solidFill>
                <a:effectLst/>
                <a:uFillTx/>
                <a:latin typeface="Arial"/>
                <a:ea typeface="Arial"/>
              </a:rPr>
              <a:t>Every module so far handed you exactly one.</a:t>
            </a:r>
            <a:endParaRPr lang="en-US" sz="2550" b="0" u="none" strike="noStrike">
              <a:solidFill>
                <a:srgbClr val="000000"/>
              </a:solidFill>
              <a:effectLst/>
              <a:uFillTx/>
              <a:latin typeface="Arial"/>
            </a:endParaRPr>
          </a:p>
        </p:txBody>
      </p:sp>
      <p:sp>
        <p:nvSpPr>
          <p:cNvPr id="81" name="Text 4"/>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82" name="Text 3"/>
          <p:cNvSpPr/>
          <p:nvPr/>
        </p:nvSpPr>
        <p:spPr>
          <a:xfrm>
            <a:off x="1238400" y="2190600"/>
            <a:ext cx="809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PART ONE</a:t>
            </a:r>
            <a:endParaRPr lang="en-US" sz="1950" b="0" u="none" strike="noStrike">
              <a:solidFill>
                <a:srgbClr val="FFFFFF"/>
              </a:solidFill>
              <a:effectLst/>
              <a:uFillTx/>
              <a:latin typeface="Arial"/>
            </a:endParaRPr>
          </a:p>
        </p:txBody>
      </p:sp>
      <p:sp>
        <p:nvSpPr>
          <p:cNvPr id="83" name="Text 4"/>
          <p:cNvSpPr/>
          <p:nvPr/>
        </p:nvSpPr>
        <p:spPr>
          <a:xfrm>
            <a:off x="1238400" y="2565360"/>
            <a:ext cx="8098200" cy="183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90000"/>
              </a:lnSpc>
              <a:tabLst>
                <a:tab pos="0" algn="l"/>
              </a:tabLst>
            </a:pPr>
            <a:r>
              <a:rPr lang="en-US" sz="15750" b="0" u="none" strike="noStrike" spc="-315">
                <a:solidFill>
                  <a:srgbClr val="FFFFFF"/>
                </a:solidFill>
                <a:effectLst/>
                <a:uFillTx/>
                <a:latin typeface="Arial"/>
                <a:ea typeface="Arial"/>
              </a:rPr>
              <a:t>01</a:t>
            </a:r>
            <a:endParaRPr lang="en-US" sz="15750" b="0" u="none" strike="noStrike">
              <a:solidFill>
                <a:srgbClr val="FFFFFF"/>
              </a:solidFill>
              <a:effectLst/>
              <a:uFillTx/>
              <a:latin typeface="Arial"/>
            </a:endParaRPr>
          </a:p>
        </p:txBody>
      </p:sp>
      <p:sp>
        <p:nvSpPr>
          <p:cNvPr id="84" name="Text 5"/>
          <p:cNvSpPr/>
          <p:nvPr/>
        </p:nvSpPr>
        <p:spPr>
          <a:xfrm>
            <a:off x="1238400" y="4613400"/>
            <a:ext cx="8098200" cy="677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800" b="0" u="none" strike="noStrike" spc="-48">
                <a:solidFill>
                  <a:srgbClr val="FFFFFF"/>
                </a:solidFill>
                <a:effectLst/>
                <a:uFillTx/>
                <a:latin typeface="Arial"/>
                <a:ea typeface="Arial"/>
              </a:rPr>
              <a:t>Why a graph</a:t>
            </a:r>
            <a:endParaRPr lang="en-US" sz="4800" b="0" u="none" strike="noStrike">
              <a:solidFill>
                <a:srgbClr val="FFFFFF"/>
              </a:solidFill>
              <a:effectLst/>
              <a:uFillTx/>
              <a:latin typeface="Arial"/>
            </a:endParaRPr>
          </a:p>
        </p:txBody>
      </p:sp>
      <p:sp>
        <p:nvSpPr>
          <p:cNvPr id="85" name="Text 6"/>
          <p:cNvSpPr/>
          <p:nvPr/>
        </p:nvSpPr>
        <p:spPr>
          <a:xfrm>
            <a:off x="1238400" y="5491080"/>
            <a:ext cx="8098200" cy="474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550" b="0" u="none" strike="noStrike">
                <a:solidFill>
                  <a:srgbClr val="A9C2E4"/>
                </a:solidFill>
                <a:effectLst/>
                <a:uFillTx/>
                <a:latin typeface="Arial"/>
                <a:ea typeface="Arial"/>
              </a:rPr>
              <a:t>The cost of merging datasets, and who pays it</a:t>
            </a:r>
            <a:endParaRPr lang="en-US" sz="2550" b="0" u="none" strike="noStrike">
              <a:solidFill>
                <a:srgbClr val="FFFFFF"/>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87"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WHY A GRAPH · THE JOIN TAX</a:t>
            </a:r>
            <a:endParaRPr lang="en-US" sz="1950" b="0" u="none" strike="noStrike">
              <a:solidFill>
                <a:srgbClr val="000000"/>
              </a:solidFill>
              <a:effectLst/>
              <a:uFillTx/>
              <a:latin typeface="Arial"/>
            </a:endParaRPr>
          </a:p>
        </p:txBody>
      </p:sp>
      <p:sp>
        <p:nvSpPr>
          <p:cNvPr id="88"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Merging datasets costs enough that questions go unasked</a:t>
            </a:r>
            <a:endParaRPr lang="en-US" sz="4650" b="0" u="none" strike="noStrike">
              <a:solidFill>
                <a:srgbClr val="000000"/>
              </a:solidFill>
              <a:effectLst/>
              <a:uFillTx/>
              <a:latin typeface="Arial"/>
            </a:endParaRPr>
          </a:p>
        </p:txBody>
      </p:sp>
      <p:sp>
        <p:nvSpPr>
          <p:cNvPr id="89"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Different formats, different terminology, different areas of expertise.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So people merge two datasets only when the payoff is obvious upfront.</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The questions that die are the cheap, curious, exploratory ones.</a:t>
            </a:r>
            <a:endParaRPr lang="en-US" sz="3000" b="0" u="none" strike="noStrike">
              <a:solidFill>
                <a:srgbClr val="000000"/>
              </a:solidFill>
              <a:effectLst/>
              <a:uFillTx/>
              <a:latin typeface="Arial"/>
            </a:endParaRPr>
          </a:p>
        </p:txBody>
      </p:sp>
      <p:sp>
        <p:nvSpPr>
          <p:cNvPr id="90"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Two datasets, and the bridge you have to build yourself</a:t>
            </a:r>
            <a:endParaRPr lang="en-US" sz="2400" b="0" u="none" strike="noStrike">
              <a:solidFill>
                <a:srgbClr val="000000"/>
              </a:solidFill>
              <a:effectLst/>
              <a:uFillTx/>
              <a:latin typeface="Arial"/>
            </a:endParaRPr>
          </a:p>
        </p:txBody>
      </p:sp>
      <p:sp>
        <p:nvSpPr>
          <p:cNvPr id="91"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92" name="Picture 14" descr="f07_join_tax.png"/>
          <p:cNvPicPr/>
          <p:nvPr/>
        </p:nvPicPr>
        <p:blipFill>
          <a:blip r:embed="rId3"/>
          <a:stretch/>
        </p:blipFill>
        <p:spPr>
          <a:xfrm>
            <a:off x="10771920" y="3907080"/>
            <a:ext cx="5888160" cy="350604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94"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WHERE THIS SCALES</a:t>
            </a:r>
            <a:endParaRPr lang="en-US" sz="1950" b="0" u="none" strike="noStrike">
              <a:solidFill>
                <a:srgbClr val="000000"/>
              </a:solidFill>
              <a:effectLst/>
              <a:uFillTx/>
              <a:latin typeface="Arial"/>
            </a:endParaRPr>
          </a:p>
        </p:txBody>
      </p:sp>
      <p:sp>
        <p:nvSpPr>
          <p:cNvPr id="95"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The same question, asked two ways</a:t>
            </a:r>
            <a:endParaRPr lang="en-US" sz="4650" b="0" u="none" strike="noStrike">
              <a:solidFill>
                <a:srgbClr val="000000"/>
              </a:solidFill>
              <a:effectLst/>
              <a:uFillTx/>
              <a:latin typeface="Arial"/>
            </a:endParaRPr>
          </a:p>
        </p:txBody>
      </p:sp>
      <p:sp>
        <p:nvSpPr>
          <p:cNvPr id="96" name="Shape 3"/>
          <p:cNvSpPr/>
          <p:nvPr/>
        </p:nvSpPr>
        <p:spPr>
          <a:xfrm>
            <a:off x="1238400" y="2303280"/>
            <a:ext cx="7714800" cy="7221240"/>
          </a:xfrm>
          <a:prstGeom prst="roundRect">
            <a:avLst>
              <a:gd name="adj" fmla="val 1319"/>
            </a:avLst>
          </a:prstGeom>
          <a:solidFill>
            <a:srgbClr val="FFFFFF"/>
          </a:solid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97" name="Text 4"/>
          <p:cNvSpPr/>
          <p:nvPr/>
        </p:nvSpPr>
        <p:spPr>
          <a:xfrm>
            <a:off x="1644480" y="2709720"/>
            <a:ext cx="7592400" cy="502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600" b="1" u="none" strike="noStrike">
                <a:solidFill>
                  <a:srgbClr val="212529"/>
                </a:solidFill>
                <a:effectLst/>
                <a:uFillTx/>
                <a:latin typeface="Arial"/>
                <a:ea typeface="Arial"/>
              </a:rPr>
              <a:t>Write the join</a:t>
            </a:r>
            <a:endParaRPr lang="en-US" sz="2600" b="0" u="none" strike="noStrike">
              <a:solidFill>
                <a:srgbClr val="000000"/>
              </a:solidFill>
              <a:effectLst/>
              <a:uFillTx/>
              <a:latin typeface="Arial"/>
            </a:endParaRPr>
          </a:p>
        </p:txBody>
      </p:sp>
      <p:sp>
        <p:nvSpPr>
          <p:cNvPr id="98" name="Text 5"/>
          <p:cNvSpPr/>
          <p:nvPr/>
        </p:nvSpPr>
        <p:spPr>
          <a:xfrm>
            <a:off x="1644480" y="3285720"/>
            <a:ext cx="7592400" cy="383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400" b="0" u="none" strike="noStrike">
                <a:solidFill>
                  <a:srgbClr val="6C757D"/>
                </a:solidFill>
                <a:effectLst/>
                <a:uFillTx/>
                <a:latin typeface="Arial"/>
                <a:ea typeface="Arial"/>
              </a:rPr>
              <a:t>what the DNS module made you do</a:t>
            </a:r>
            <a:endParaRPr lang="en-US" sz="2400" b="0" u="none" strike="noStrike">
              <a:solidFill>
                <a:srgbClr val="000000"/>
              </a:solidFill>
              <a:effectLst/>
              <a:uFillTx/>
              <a:latin typeface="Arial"/>
            </a:endParaRPr>
          </a:p>
        </p:txBody>
      </p:sp>
      <p:sp>
        <p:nvSpPr>
          <p:cNvPr id="99" name="Text 7"/>
          <p:cNvSpPr/>
          <p:nvPr/>
        </p:nvSpPr>
        <p:spPr>
          <a:xfrm>
            <a:off x="1644480" y="3834360"/>
            <a:ext cx="756468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276120" indent="-276120" defTabSz="914400">
              <a:lnSpc>
                <a:spcPct val="135000"/>
              </a:lnSpc>
              <a:buClr>
                <a:srgbClr val="C2C8D2"/>
              </a:buClr>
              <a:buFont typeface="Arial"/>
              <a:buChar char="▪"/>
            </a:pPr>
            <a:r>
              <a:rPr lang="en-US" sz="3000" b="0" u="none" strike="noStrike">
                <a:solidFill>
                  <a:srgbClr val="343A40"/>
                </a:solidFill>
                <a:effectLst/>
                <a:uFillTx/>
                <a:latin typeface="Arial"/>
                <a:ea typeface="Arial"/>
              </a:rPr>
              <a:t>Fetch OpenINTEL resolution data.</a:t>
            </a:r>
            <a:endParaRPr lang="en-US" sz="3000" b="0" u="none" strike="noStrike">
              <a:solidFill>
                <a:srgbClr val="000000"/>
              </a:solidFill>
              <a:effectLst/>
              <a:uFillTx/>
              <a:latin typeface="Arial"/>
            </a:endParaRPr>
          </a:p>
          <a:p>
            <a:pPr marL="276120" indent="-276120" defTabSz="914400">
              <a:lnSpc>
                <a:spcPct val="135000"/>
              </a:lnSpc>
              <a:spcBef>
                <a:spcPts val="601"/>
              </a:spcBef>
              <a:buClr>
                <a:srgbClr val="C2C8D2"/>
              </a:buClr>
              <a:buFont typeface="Arial"/>
              <a:buChar char="▪"/>
            </a:pPr>
            <a:r>
              <a:rPr lang="en-US" sz="3000" b="0" u="none" strike="noStrike">
                <a:solidFill>
                  <a:srgbClr val="343A40"/>
                </a:solidFill>
                <a:effectLst/>
                <a:uFillTx/>
                <a:latin typeface="Arial"/>
                <a:ea typeface="Arial"/>
              </a:rPr>
              <a:t>Fetch a prefix-to-AS mapping separately.</a:t>
            </a:r>
            <a:endParaRPr lang="en-US" sz="3000" b="0" u="none" strike="noStrike">
              <a:solidFill>
                <a:srgbClr val="000000"/>
              </a:solidFill>
              <a:effectLst/>
              <a:uFillTx/>
              <a:latin typeface="Arial"/>
            </a:endParaRPr>
          </a:p>
          <a:p>
            <a:pPr marL="276120" indent="-276120" defTabSz="914400">
              <a:lnSpc>
                <a:spcPct val="135000"/>
              </a:lnSpc>
              <a:spcBef>
                <a:spcPts val="601"/>
              </a:spcBef>
              <a:buClr>
                <a:srgbClr val="C2C8D2"/>
              </a:buClr>
              <a:buFont typeface="Arial"/>
              <a:buChar char="▪"/>
            </a:pPr>
            <a:r>
              <a:rPr lang="en-US" sz="3000" b="0" u="none" strike="noStrike">
                <a:solidFill>
                  <a:srgbClr val="343A40"/>
                </a:solidFill>
                <a:effectLst/>
                <a:uFillTx/>
                <a:latin typeface="Arial"/>
                <a:ea typeface="Arial"/>
              </a:rPr>
              <a:t>Match on IP, then join in Spark.</a:t>
            </a:r>
            <a:endParaRPr lang="en-US" sz="3000" b="0" u="none" strike="noStrike">
              <a:solidFill>
                <a:srgbClr val="000000"/>
              </a:solidFill>
              <a:effectLst/>
              <a:uFillTx/>
              <a:latin typeface="Arial"/>
            </a:endParaRPr>
          </a:p>
        </p:txBody>
      </p:sp>
      <p:sp>
        <p:nvSpPr>
          <p:cNvPr id="100" name="Shape 10"/>
          <p:cNvSpPr/>
          <p:nvPr/>
        </p:nvSpPr>
        <p:spPr>
          <a:xfrm>
            <a:off x="9334440" y="2303280"/>
            <a:ext cx="7714800" cy="7221240"/>
          </a:xfrm>
          <a:prstGeom prst="roundRect">
            <a:avLst>
              <a:gd name="adj" fmla="val 1319"/>
            </a:avLst>
          </a:prstGeom>
          <a:solidFill>
            <a:srgbClr val="E9EFF7"/>
          </a:solidFill>
          <a:ln w="6350">
            <a:solidFill>
              <a:srgbClr val="2B518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01" name="Text 11"/>
          <p:cNvSpPr/>
          <p:nvPr/>
        </p:nvSpPr>
        <p:spPr>
          <a:xfrm>
            <a:off x="9740880" y="2709720"/>
            <a:ext cx="7592400" cy="502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600" b="1" u="none" strike="noStrike">
                <a:solidFill>
                  <a:srgbClr val="2B5187"/>
                </a:solidFill>
                <a:effectLst/>
                <a:uFillTx/>
                <a:latin typeface="Arial"/>
                <a:ea typeface="Arial"/>
              </a:rPr>
              <a:t>Walk the graph</a:t>
            </a:r>
            <a:endParaRPr lang="en-US" sz="2600" b="0" u="none" strike="noStrike">
              <a:solidFill>
                <a:srgbClr val="000000"/>
              </a:solidFill>
              <a:effectLst/>
              <a:uFillTx/>
              <a:latin typeface="Arial"/>
            </a:endParaRPr>
          </a:p>
        </p:txBody>
      </p:sp>
      <p:sp>
        <p:nvSpPr>
          <p:cNvPr id="102" name="Text 12"/>
          <p:cNvSpPr/>
          <p:nvPr/>
        </p:nvSpPr>
        <p:spPr>
          <a:xfrm>
            <a:off x="9740880" y="3285720"/>
            <a:ext cx="7592400" cy="383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400" b="0" u="none" strike="noStrike">
                <a:solidFill>
                  <a:srgbClr val="6C757D"/>
                </a:solidFill>
                <a:effectLst/>
                <a:uFillTx/>
                <a:latin typeface="Arial"/>
                <a:ea typeface="Arial"/>
              </a:rPr>
              <a:t>what Task 2 asks today</a:t>
            </a:r>
            <a:endParaRPr lang="en-US" sz="2400" b="0" u="none" strike="noStrike">
              <a:solidFill>
                <a:srgbClr val="000000"/>
              </a:solidFill>
              <a:effectLst/>
              <a:uFillTx/>
              <a:latin typeface="Arial"/>
            </a:endParaRPr>
          </a:p>
        </p:txBody>
      </p:sp>
      <p:sp>
        <p:nvSpPr>
          <p:cNvPr id="103" name="Text 14"/>
          <p:cNvSpPr/>
          <p:nvPr/>
        </p:nvSpPr>
        <p:spPr>
          <a:xfrm>
            <a:off x="9740880" y="3834360"/>
            <a:ext cx="756468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276120" indent="-276120" defTabSz="914400">
              <a:lnSpc>
                <a:spcPct val="135000"/>
              </a:lnSpc>
              <a:buClr>
                <a:srgbClr val="2B5187"/>
              </a:buClr>
              <a:buFont typeface="Arial"/>
              <a:buChar char="▪"/>
            </a:pPr>
            <a:r>
              <a:rPr lang="en-US" sz="3000" b="0" u="none" strike="noStrike">
                <a:solidFill>
                  <a:srgbClr val="343A40"/>
                </a:solidFill>
                <a:effectLst/>
                <a:uFillTx/>
                <a:latin typeface="Arial"/>
                <a:ea typeface="Arial"/>
              </a:rPr>
              <a:t>Start at the AS node.</a:t>
            </a:r>
            <a:endParaRPr lang="en-US" sz="3000" b="0" u="none" strike="noStrike">
              <a:solidFill>
                <a:srgbClr val="000000"/>
              </a:solidFill>
              <a:effectLst/>
              <a:uFillTx/>
              <a:latin typeface="Arial"/>
            </a:endParaRPr>
          </a:p>
          <a:p>
            <a:pPr marL="276120" indent="-276120" defTabSz="914400">
              <a:lnSpc>
                <a:spcPct val="135000"/>
              </a:lnSpc>
              <a:spcBef>
                <a:spcPts val="601"/>
              </a:spcBef>
              <a:buClr>
                <a:srgbClr val="2B5187"/>
              </a:buClr>
              <a:buFont typeface="Arial"/>
              <a:buChar char="▪"/>
            </a:pPr>
            <a:r>
              <a:rPr lang="en-US" sz="3000" b="0" u="none" strike="noStrike">
                <a:solidFill>
                  <a:srgbClr val="343A40"/>
                </a:solidFill>
                <a:effectLst/>
                <a:uFillTx/>
                <a:latin typeface="Arial"/>
                <a:ea typeface="Arial"/>
              </a:rPr>
              <a:t>Chain three relationship types.</a:t>
            </a:r>
            <a:endParaRPr lang="en-US" sz="3000" b="0" u="none" strike="noStrike">
              <a:solidFill>
                <a:srgbClr val="000000"/>
              </a:solidFill>
              <a:effectLst/>
              <a:uFillTx/>
              <a:latin typeface="Arial"/>
            </a:endParaRPr>
          </a:p>
          <a:p>
            <a:pPr marL="276120" indent="-276120" defTabSz="914400">
              <a:lnSpc>
                <a:spcPct val="135000"/>
              </a:lnSpc>
              <a:spcBef>
                <a:spcPts val="601"/>
              </a:spcBef>
              <a:buClr>
                <a:srgbClr val="2B5187"/>
              </a:buClr>
              <a:buFont typeface="Arial"/>
              <a:buChar char="▪"/>
            </a:pPr>
            <a:r>
              <a:rPr lang="en-US" sz="3000" b="0" u="none" strike="noStrike">
                <a:solidFill>
                  <a:srgbClr val="343A40"/>
                </a:solidFill>
                <a:effectLst/>
                <a:uFillTx/>
                <a:latin typeface="Arial"/>
                <a:ea typeface="Arial"/>
              </a:rPr>
              <a:t>One MATCH, one result.</a:t>
            </a:r>
            <a:endParaRPr lang="en-US" sz="3000" b="0" u="none" strike="noStrike">
              <a:solidFill>
                <a:srgbClr val="000000"/>
              </a:solidFill>
              <a:effectLst/>
              <a:uFillTx/>
              <a:latin typeface="Arial"/>
            </a:endParaRPr>
          </a:p>
        </p:txBody>
      </p:sp>
      <p:sp>
        <p:nvSpPr>
          <p:cNvPr id="104" name="Text 17"/>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06"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WHY A GRAPH · ONTOLOGY</a:t>
            </a:r>
            <a:endParaRPr lang="en-US" sz="1950" b="0" u="none" strike="noStrike">
              <a:solidFill>
                <a:srgbClr val="000000"/>
              </a:solidFill>
              <a:effectLst/>
              <a:uFillTx/>
              <a:latin typeface="Arial"/>
            </a:endParaRPr>
          </a:p>
        </p:txBody>
      </p:sp>
      <p:sp>
        <p:nvSpPr>
          <p:cNvPr id="107"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An ontology describes meaning, a schema describes structure</a:t>
            </a:r>
            <a:endParaRPr lang="en-US" sz="4650" b="0" u="none" strike="noStrike">
              <a:solidFill>
                <a:srgbClr val="000000"/>
              </a:solidFill>
              <a:effectLst/>
              <a:uFillTx/>
              <a:latin typeface="Arial"/>
            </a:endParaRPr>
          </a:p>
        </p:txBody>
      </p:sp>
      <p:sp>
        <p:nvSpPr>
          <p:cNvPr id="108"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Adding a dataset to a relational schema means changing the schema.</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Mimicking a graph in tables works, until the joins pile up.</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The ontology fixes what a term means, so new data just attaches.</a:t>
            </a:r>
            <a:endParaRPr lang="en-US" sz="3000" b="0" u="none" strike="noStrike">
              <a:solidFill>
                <a:srgbClr val="000000"/>
              </a:solidFill>
              <a:effectLst/>
              <a:uFillTx/>
              <a:latin typeface="Arial"/>
            </a:endParaRPr>
          </a:p>
        </p:txBody>
      </p:sp>
      <p:sp>
        <p:nvSpPr>
          <p:cNvPr id="109"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Rewriting a schema, versus attaching to a shared vocabulary</a:t>
            </a:r>
            <a:endParaRPr lang="en-US" sz="2400" b="0" u="none" strike="noStrike">
              <a:solidFill>
                <a:srgbClr val="000000"/>
              </a:solidFill>
              <a:effectLst/>
              <a:uFillTx/>
              <a:latin typeface="Arial"/>
            </a:endParaRPr>
          </a:p>
        </p:txBody>
      </p:sp>
      <p:sp>
        <p:nvSpPr>
          <p:cNvPr id="110"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111" name="Picture 14" descr="f09_schema_vs_ontology.png"/>
          <p:cNvPicPr/>
          <p:nvPr/>
        </p:nvPicPr>
        <p:blipFill>
          <a:blip r:embed="rId3"/>
          <a:stretch/>
        </p:blipFill>
        <p:spPr>
          <a:xfrm>
            <a:off x="10771920" y="3907080"/>
            <a:ext cx="5888160" cy="350604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13"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WHAT IS ACTUALLY IN THERE</a:t>
            </a:r>
            <a:endParaRPr lang="en-US" sz="1950" b="0" u="none" strike="noStrike">
              <a:solidFill>
                <a:srgbClr val="000000"/>
              </a:solidFill>
              <a:effectLst/>
              <a:uFillTx/>
              <a:latin typeface="Arial"/>
            </a:endParaRPr>
          </a:p>
        </p:txBody>
      </p:sp>
      <p:sp>
        <p:nvSpPr>
          <p:cNvPr id="114"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Some of what IYP already holds</a:t>
            </a:r>
            <a:endParaRPr lang="en-US" sz="4650" b="0" u="none" strike="noStrike">
              <a:solidFill>
                <a:srgbClr val="000000"/>
              </a:solidFill>
              <a:effectLst/>
              <a:uFillTx/>
              <a:latin typeface="Arial"/>
            </a:endParaRPr>
          </a:p>
        </p:txBody>
      </p:sp>
      <p:sp>
        <p:nvSpPr>
          <p:cNvPr id="115" name="Shape 3"/>
          <p:cNvSpPr/>
          <p:nvPr/>
        </p:nvSpPr>
        <p:spPr>
          <a:xfrm>
            <a:off x="1238400" y="4306320"/>
            <a:ext cx="15811200" cy="1464480"/>
          </a:xfrm>
          <a:prstGeom prst="roundRect">
            <a:avLst>
              <a:gd name="adj" fmla="val 5202"/>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16" name="Shape 4"/>
          <p:cNvSpPr/>
          <p:nvPr/>
        </p:nvSpPr>
        <p:spPr>
          <a:xfrm>
            <a:off x="1238400" y="576504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17" name="Shape 5"/>
          <p:cNvSpPr/>
          <p:nvPr/>
        </p:nvSpPr>
        <p:spPr>
          <a:xfrm>
            <a:off x="1238400" y="430632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18" name="Shape 6"/>
          <p:cNvSpPr/>
          <p:nvPr/>
        </p:nvSpPr>
        <p:spPr>
          <a:xfrm>
            <a:off x="1238400" y="4306320"/>
            <a:ext cx="43920" cy="146448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19" name="Shape 7"/>
          <p:cNvSpPr/>
          <p:nvPr/>
        </p:nvSpPr>
        <p:spPr>
          <a:xfrm>
            <a:off x="17043480" y="4306320"/>
            <a:ext cx="9000" cy="146448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20" name="Text 8"/>
          <p:cNvSpPr/>
          <p:nvPr/>
        </p:nvSpPr>
        <p:spPr>
          <a:xfrm>
            <a:off x="1663560" y="4527000"/>
            <a:ext cx="10515240" cy="566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000" b="1" u="none" strike="noStrike">
                <a:solidFill>
                  <a:srgbClr val="212529"/>
                </a:solidFill>
                <a:effectLst/>
                <a:uFillTx/>
                <a:latin typeface="Arial"/>
                <a:ea typeface="Arial"/>
              </a:rPr>
              <a:t>BGPKIT prefix-to-AS</a:t>
            </a:r>
            <a:endParaRPr lang="en-US" sz="3000" b="0" u="none" strike="noStrike">
              <a:solidFill>
                <a:srgbClr val="000000"/>
              </a:solidFill>
              <a:effectLst/>
              <a:uFillTx/>
              <a:latin typeface="Arial"/>
            </a:endParaRPr>
          </a:p>
        </p:txBody>
      </p:sp>
      <p:sp>
        <p:nvSpPr>
          <p:cNvPr id="121" name="Text 9"/>
          <p:cNvSpPr/>
          <p:nvPr/>
        </p:nvSpPr>
        <p:spPr>
          <a:xfrm>
            <a:off x="1663560" y="5130360"/>
            <a:ext cx="1051524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600" b="0" u="none" strike="noStrike">
                <a:solidFill>
                  <a:srgbClr val="343A40"/>
                </a:solidFill>
                <a:effectLst/>
                <a:uFillTx/>
                <a:latin typeface="Arial"/>
                <a:ea typeface="Arial"/>
              </a:rPr>
              <a:t>Origin AS per prefix, from all RIS and RouteViews collectors</a:t>
            </a:r>
            <a:endParaRPr lang="en-US" sz="2600" b="0" u="none" strike="noStrike">
              <a:solidFill>
                <a:srgbClr val="000000"/>
              </a:solidFill>
              <a:effectLst/>
              <a:uFillTx/>
              <a:latin typeface="Arial"/>
            </a:endParaRPr>
          </a:p>
        </p:txBody>
      </p:sp>
      <p:sp>
        <p:nvSpPr>
          <p:cNvPr id="122" name="Text 10"/>
          <p:cNvSpPr/>
          <p:nvPr/>
        </p:nvSpPr>
        <p:spPr>
          <a:xfrm>
            <a:off x="12456000" y="4711680"/>
            <a:ext cx="420588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1800" b="0" u="none" strike="noStrike" spc="108">
                <a:solidFill>
                  <a:srgbClr val="6C757D"/>
                </a:solidFill>
                <a:effectLst/>
                <a:uFillTx/>
                <a:latin typeface="Arial"/>
                <a:ea typeface="Arial"/>
              </a:rPr>
              <a:t>REFERENCE</a:t>
            </a:r>
            <a:endParaRPr lang="en-US" sz="1800" b="0" u="none" strike="noStrike">
              <a:solidFill>
                <a:srgbClr val="000000"/>
              </a:solidFill>
              <a:effectLst/>
              <a:uFillTx/>
              <a:latin typeface="Arial"/>
            </a:endParaRPr>
          </a:p>
        </p:txBody>
      </p:sp>
      <p:sp>
        <p:nvSpPr>
          <p:cNvPr id="123" name="Text 11"/>
          <p:cNvSpPr/>
          <p:nvPr/>
        </p:nvSpPr>
        <p:spPr>
          <a:xfrm>
            <a:off x="12456000" y="5060880"/>
            <a:ext cx="4205880" cy="411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2200" b="0" u="none" strike="noStrike">
                <a:solidFill>
                  <a:srgbClr val="2B5187"/>
                </a:solidFill>
                <a:effectLst/>
                <a:uFillTx/>
                <a:latin typeface="Roboto Mono"/>
                <a:ea typeface="Arial"/>
              </a:rPr>
              <a:t>bgpkit.pfx2asn</a:t>
            </a:r>
            <a:endParaRPr lang="en-US" sz="2200" b="0" u="none" strike="noStrike">
              <a:solidFill>
                <a:srgbClr val="000000"/>
              </a:solidFill>
              <a:effectLst/>
              <a:uFillTx/>
              <a:latin typeface="Arial"/>
            </a:endParaRPr>
          </a:p>
        </p:txBody>
      </p:sp>
      <p:sp>
        <p:nvSpPr>
          <p:cNvPr id="124" name="Shape 12"/>
          <p:cNvSpPr/>
          <p:nvPr/>
        </p:nvSpPr>
        <p:spPr>
          <a:xfrm>
            <a:off x="1238400" y="6057000"/>
            <a:ext cx="15811200" cy="1464480"/>
          </a:xfrm>
          <a:prstGeom prst="roundRect">
            <a:avLst>
              <a:gd name="adj" fmla="val 5202"/>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25" name="Shape 13"/>
          <p:cNvSpPr/>
          <p:nvPr/>
        </p:nvSpPr>
        <p:spPr>
          <a:xfrm>
            <a:off x="1238400" y="751536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26" name="Shape 14"/>
          <p:cNvSpPr/>
          <p:nvPr/>
        </p:nvSpPr>
        <p:spPr>
          <a:xfrm>
            <a:off x="1238400" y="605700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27" name="Shape 15"/>
          <p:cNvSpPr/>
          <p:nvPr/>
        </p:nvSpPr>
        <p:spPr>
          <a:xfrm>
            <a:off x="1238400" y="6057000"/>
            <a:ext cx="43920" cy="146448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28" name="Shape 16"/>
          <p:cNvSpPr/>
          <p:nvPr/>
        </p:nvSpPr>
        <p:spPr>
          <a:xfrm>
            <a:off x="17043480" y="6057000"/>
            <a:ext cx="9000" cy="146448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29" name="Text 17"/>
          <p:cNvSpPr/>
          <p:nvPr/>
        </p:nvSpPr>
        <p:spPr>
          <a:xfrm>
            <a:off x="1663560" y="6277320"/>
            <a:ext cx="10515240" cy="566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000" b="1" u="none" strike="noStrike">
                <a:solidFill>
                  <a:srgbClr val="212529"/>
                </a:solidFill>
                <a:effectLst/>
                <a:uFillTx/>
                <a:latin typeface="Arial"/>
                <a:ea typeface="Arial"/>
              </a:rPr>
              <a:t>CAIDA AS Rank</a:t>
            </a:r>
            <a:endParaRPr lang="en-US" sz="3000" b="0" u="none" strike="noStrike">
              <a:solidFill>
                <a:srgbClr val="000000"/>
              </a:solidFill>
              <a:effectLst/>
              <a:uFillTx/>
              <a:latin typeface="Arial"/>
            </a:endParaRPr>
          </a:p>
        </p:txBody>
      </p:sp>
      <p:sp>
        <p:nvSpPr>
          <p:cNvPr id="130" name="Text 18"/>
          <p:cNvSpPr/>
          <p:nvPr/>
        </p:nvSpPr>
        <p:spPr>
          <a:xfrm>
            <a:off x="1663560" y="6881040"/>
            <a:ext cx="1051524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600" b="0" u="none" strike="noStrike">
                <a:solidFill>
                  <a:srgbClr val="343A40"/>
                </a:solidFill>
                <a:effectLst/>
                <a:uFillTx/>
                <a:latin typeface="Arial"/>
                <a:ea typeface="Arial"/>
              </a:rPr>
              <a:t>AS ranking derived from customer cone size</a:t>
            </a:r>
            <a:endParaRPr lang="en-US" sz="2600" b="0" u="none" strike="noStrike">
              <a:solidFill>
                <a:srgbClr val="000000"/>
              </a:solidFill>
              <a:effectLst/>
              <a:uFillTx/>
              <a:latin typeface="Arial"/>
            </a:endParaRPr>
          </a:p>
        </p:txBody>
      </p:sp>
      <p:sp>
        <p:nvSpPr>
          <p:cNvPr id="131" name="Text 19"/>
          <p:cNvSpPr/>
          <p:nvPr/>
        </p:nvSpPr>
        <p:spPr>
          <a:xfrm>
            <a:off x="12456000" y="6462360"/>
            <a:ext cx="420588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1800" b="0" u="none" strike="noStrike" spc="108">
                <a:solidFill>
                  <a:srgbClr val="6C757D"/>
                </a:solidFill>
                <a:effectLst/>
                <a:uFillTx/>
                <a:latin typeface="Arial"/>
                <a:ea typeface="Arial"/>
              </a:rPr>
              <a:t>REFERENCE</a:t>
            </a:r>
            <a:endParaRPr lang="en-US" sz="1800" b="0" u="none" strike="noStrike">
              <a:solidFill>
                <a:srgbClr val="000000"/>
              </a:solidFill>
              <a:effectLst/>
              <a:uFillTx/>
              <a:latin typeface="Arial"/>
            </a:endParaRPr>
          </a:p>
        </p:txBody>
      </p:sp>
      <p:sp>
        <p:nvSpPr>
          <p:cNvPr id="132" name="Text 20"/>
          <p:cNvSpPr/>
          <p:nvPr/>
        </p:nvSpPr>
        <p:spPr>
          <a:xfrm>
            <a:off x="12456000" y="6811560"/>
            <a:ext cx="4205880" cy="411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2200" b="0" u="none" strike="noStrike">
                <a:solidFill>
                  <a:srgbClr val="2B5187"/>
                </a:solidFill>
                <a:effectLst/>
                <a:uFillTx/>
                <a:latin typeface="Roboto Mono"/>
                <a:ea typeface="Arial"/>
              </a:rPr>
              <a:t>caida.asrank</a:t>
            </a:r>
            <a:endParaRPr lang="en-US" sz="2200" b="0" u="none" strike="noStrike">
              <a:solidFill>
                <a:srgbClr val="000000"/>
              </a:solidFill>
              <a:effectLst/>
              <a:uFillTx/>
              <a:latin typeface="Arial"/>
            </a:endParaRPr>
          </a:p>
        </p:txBody>
      </p:sp>
      <p:sp>
        <p:nvSpPr>
          <p:cNvPr id="133" name="Text 21"/>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35"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WHAT IS ACTUALLY IN THERE</a:t>
            </a:r>
            <a:endParaRPr lang="en-US" sz="1950" b="0" u="none" strike="noStrike">
              <a:solidFill>
                <a:srgbClr val="000000"/>
              </a:solidFill>
              <a:effectLst/>
              <a:uFillTx/>
              <a:latin typeface="Arial"/>
            </a:endParaRPr>
          </a:p>
        </p:txBody>
      </p:sp>
      <p:sp>
        <p:nvSpPr>
          <p:cNvPr id="136"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And some of what makes Task 2 possible</a:t>
            </a:r>
            <a:endParaRPr lang="en-US" sz="4650" b="0" u="none" strike="noStrike">
              <a:solidFill>
                <a:srgbClr val="000000"/>
              </a:solidFill>
              <a:effectLst/>
              <a:uFillTx/>
              <a:latin typeface="Arial"/>
            </a:endParaRPr>
          </a:p>
        </p:txBody>
      </p:sp>
      <p:sp>
        <p:nvSpPr>
          <p:cNvPr id="137" name="Shape 3"/>
          <p:cNvSpPr/>
          <p:nvPr/>
        </p:nvSpPr>
        <p:spPr>
          <a:xfrm>
            <a:off x="1238400" y="4306320"/>
            <a:ext cx="15811200" cy="1464480"/>
          </a:xfrm>
          <a:prstGeom prst="roundRect">
            <a:avLst>
              <a:gd name="adj" fmla="val 5202"/>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38" name="Shape 4"/>
          <p:cNvSpPr/>
          <p:nvPr/>
        </p:nvSpPr>
        <p:spPr>
          <a:xfrm>
            <a:off x="1238400" y="576504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39" name="Shape 5"/>
          <p:cNvSpPr/>
          <p:nvPr/>
        </p:nvSpPr>
        <p:spPr>
          <a:xfrm>
            <a:off x="1238400" y="430632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40" name="Shape 6"/>
          <p:cNvSpPr/>
          <p:nvPr/>
        </p:nvSpPr>
        <p:spPr>
          <a:xfrm>
            <a:off x="1238400" y="4306320"/>
            <a:ext cx="43920" cy="146448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41" name="Shape 7"/>
          <p:cNvSpPr/>
          <p:nvPr/>
        </p:nvSpPr>
        <p:spPr>
          <a:xfrm>
            <a:off x="17043480" y="4306320"/>
            <a:ext cx="9000" cy="146448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42" name="Text 8"/>
          <p:cNvSpPr/>
          <p:nvPr/>
        </p:nvSpPr>
        <p:spPr>
          <a:xfrm>
            <a:off x="1663560" y="4527000"/>
            <a:ext cx="10515240" cy="513284"/>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tabLst>
                <a:tab pos="0" algn="l"/>
              </a:tabLst>
            </a:pPr>
            <a:r>
              <a:rPr lang="en-US" sz="3000" b="1" u="none" strike="noStrike" dirty="0" err="1">
                <a:solidFill>
                  <a:srgbClr val="212529"/>
                </a:solidFill>
                <a:effectLst/>
                <a:uFillTx/>
                <a:latin typeface="Arial"/>
                <a:ea typeface="Arial"/>
              </a:rPr>
              <a:t>OpenINTEL</a:t>
            </a:r>
            <a:r>
              <a:rPr lang="en-US" sz="3000" b="1" dirty="0">
                <a:solidFill>
                  <a:srgbClr val="212529"/>
                </a:solidFill>
                <a:latin typeface="Arial"/>
                <a:ea typeface="Arial"/>
              </a:rPr>
              <a:t> Top Lists </a:t>
            </a:r>
            <a:endParaRPr lang="en-US" sz="3000" b="0" u="none" strike="noStrike" dirty="0">
              <a:solidFill>
                <a:srgbClr val="000000"/>
              </a:solidFill>
              <a:effectLst/>
              <a:uFillTx/>
              <a:latin typeface="Arial"/>
            </a:endParaRPr>
          </a:p>
        </p:txBody>
      </p:sp>
      <p:sp>
        <p:nvSpPr>
          <p:cNvPr id="143" name="Text 9"/>
          <p:cNvSpPr/>
          <p:nvPr/>
        </p:nvSpPr>
        <p:spPr>
          <a:xfrm>
            <a:off x="1663560" y="5138642"/>
            <a:ext cx="11119869" cy="532648"/>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a:lnSpc>
                <a:spcPct val="135000"/>
              </a:lnSpc>
              <a:tabLst>
                <a:tab pos="0" algn="l"/>
              </a:tabLst>
            </a:pPr>
            <a:r>
              <a:rPr lang="en-US" sz="2600" b="0" u="none" strike="noStrike">
                <a:solidFill>
                  <a:srgbClr val="343A40"/>
                </a:solidFill>
                <a:effectLst/>
                <a:uFillTx/>
                <a:latin typeface="Arial"/>
                <a:ea typeface="Arial"/>
              </a:rPr>
              <a:t>Daily DNS resolution for </a:t>
            </a:r>
            <a:r>
              <a:rPr lang="en-US" sz="2600">
                <a:solidFill>
                  <a:srgbClr val="343A40"/>
                </a:solidFill>
                <a:latin typeface="Arial"/>
                <a:ea typeface="Arial"/>
              </a:rPr>
              <a:t>top-list</a:t>
            </a:r>
            <a:r>
              <a:rPr lang="en-US" sz="2600" b="0" u="none" strike="noStrike">
                <a:solidFill>
                  <a:srgbClr val="343A40"/>
                </a:solidFill>
                <a:effectLst/>
                <a:uFillTx/>
                <a:latin typeface="Arial"/>
                <a:ea typeface="Arial"/>
              </a:rPr>
              <a:t> domains</a:t>
            </a:r>
            <a:r>
              <a:rPr lang="en-US" sz="2600">
                <a:solidFill>
                  <a:srgbClr val="343A40"/>
                </a:solidFill>
                <a:latin typeface="Arial"/>
                <a:ea typeface="Arial"/>
              </a:rPr>
              <a:t> (e.g., Cisco Umbrella Top 1M</a:t>
            </a:r>
            <a:r>
              <a:rPr lang="en-US" sz="2600" dirty="0">
                <a:solidFill>
                  <a:srgbClr val="343A40"/>
                </a:solidFill>
                <a:latin typeface="Arial"/>
                <a:ea typeface="Arial"/>
              </a:rPr>
              <a:t>)</a:t>
            </a:r>
            <a:endParaRPr lang="en-US" sz="2600" b="0" u="none" strike="noStrike" dirty="0">
              <a:solidFill>
                <a:srgbClr val="000000"/>
              </a:solidFill>
              <a:effectLst/>
              <a:uFillTx/>
              <a:latin typeface="Arial"/>
            </a:endParaRPr>
          </a:p>
        </p:txBody>
      </p:sp>
      <p:sp>
        <p:nvSpPr>
          <p:cNvPr id="144" name="Text 10"/>
          <p:cNvSpPr/>
          <p:nvPr/>
        </p:nvSpPr>
        <p:spPr>
          <a:xfrm>
            <a:off x="12456000" y="4711680"/>
            <a:ext cx="420588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1800" b="0" u="none" strike="noStrike" spc="108">
                <a:solidFill>
                  <a:srgbClr val="6C757D"/>
                </a:solidFill>
                <a:effectLst/>
                <a:uFillTx/>
                <a:latin typeface="Arial"/>
                <a:ea typeface="Arial"/>
              </a:rPr>
              <a:t>REFERENCE</a:t>
            </a:r>
            <a:endParaRPr lang="en-US" sz="1800" b="0" u="none" strike="noStrike">
              <a:solidFill>
                <a:srgbClr val="000000"/>
              </a:solidFill>
              <a:effectLst/>
              <a:uFillTx/>
              <a:latin typeface="Arial"/>
            </a:endParaRPr>
          </a:p>
        </p:txBody>
      </p:sp>
      <p:sp>
        <p:nvSpPr>
          <p:cNvPr id="145" name="Text 11"/>
          <p:cNvSpPr/>
          <p:nvPr/>
        </p:nvSpPr>
        <p:spPr>
          <a:xfrm>
            <a:off x="12456000" y="5060880"/>
            <a:ext cx="4205880" cy="390173"/>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2200" b="0" u="none" strike="noStrike" dirty="0" err="1">
                <a:solidFill>
                  <a:srgbClr val="2B5187"/>
                </a:solidFill>
                <a:effectLst/>
                <a:uFillTx/>
                <a:latin typeface="Roboto Mono"/>
                <a:ea typeface="Arial"/>
              </a:rPr>
              <a:t>openintel.</a:t>
            </a:r>
            <a:r>
              <a:rPr lang="en-US" sz="2200" dirty="0" err="1">
                <a:solidFill>
                  <a:srgbClr val="2B5187"/>
                </a:solidFill>
                <a:latin typeface="Roboto Mono"/>
                <a:ea typeface="Arial"/>
              </a:rPr>
              <a:t>toplist</a:t>
            </a:r>
            <a:endParaRPr lang="en-US" sz="2200" b="0" u="none" strike="noStrike" dirty="0" err="1">
              <a:solidFill>
                <a:srgbClr val="000000"/>
              </a:solidFill>
              <a:effectLst/>
              <a:uFillTx/>
              <a:latin typeface="Arial"/>
            </a:endParaRPr>
          </a:p>
        </p:txBody>
      </p:sp>
      <p:sp>
        <p:nvSpPr>
          <p:cNvPr id="146" name="Shape 12"/>
          <p:cNvSpPr/>
          <p:nvPr/>
        </p:nvSpPr>
        <p:spPr>
          <a:xfrm>
            <a:off x="1238400" y="6057000"/>
            <a:ext cx="15811200" cy="1464480"/>
          </a:xfrm>
          <a:prstGeom prst="roundRect">
            <a:avLst>
              <a:gd name="adj" fmla="val 5202"/>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47" name="Shape 13"/>
          <p:cNvSpPr/>
          <p:nvPr/>
        </p:nvSpPr>
        <p:spPr>
          <a:xfrm>
            <a:off x="1238400" y="751536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48" name="Shape 14"/>
          <p:cNvSpPr/>
          <p:nvPr/>
        </p:nvSpPr>
        <p:spPr>
          <a:xfrm>
            <a:off x="1238400" y="6057000"/>
            <a:ext cx="1581120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149" name="Shape 15"/>
          <p:cNvSpPr/>
          <p:nvPr/>
        </p:nvSpPr>
        <p:spPr>
          <a:xfrm>
            <a:off x="1238400" y="6057000"/>
            <a:ext cx="43920" cy="146448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50" name="Shape 16"/>
          <p:cNvSpPr/>
          <p:nvPr/>
        </p:nvSpPr>
        <p:spPr>
          <a:xfrm>
            <a:off x="17043480" y="6057000"/>
            <a:ext cx="9000" cy="146448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51" name="Text 17"/>
          <p:cNvSpPr/>
          <p:nvPr/>
        </p:nvSpPr>
        <p:spPr>
          <a:xfrm>
            <a:off x="1663560" y="6277320"/>
            <a:ext cx="10515240" cy="566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3000" b="1" u="none" strike="noStrike">
                <a:solidFill>
                  <a:srgbClr val="212529"/>
                </a:solidFill>
                <a:effectLst/>
                <a:uFillTx/>
                <a:latin typeface="Arial"/>
                <a:ea typeface="Arial"/>
              </a:rPr>
              <a:t>PeeringDB</a:t>
            </a:r>
            <a:endParaRPr lang="en-US" sz="3000" b="0" u="none" strike="noStrike">
              <a:solidFill>
                <a:srgbClr val="000000"/>
              </a:solidFill>
              <a:effectLst/>
              <a:uFillTx/>
              <a:latin typeface="Arial"/>
            </a:endParaRPr>
          </a:p>
        </p:txBody>
      </p:sp>
      <p:sp>
        <p:nvSpPr>
          <p:cNvPr id="152" name="Text 18"/>
          <p:cNvSpPr/>
          <p:nvPr/>
        </p:nvSpPr>
        <p:spPr>
          <a:xfrm>
            <a:off x="1663560" y="6881040"/>
            <a:ext cx="10515240" cy="5299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600" b="0" u="none" strike="noStrike">
                <a:solidFill>
                  <a:srgbClr val="343A40"/>
                </a:solidFill>
                <a:effectLst/>
                <a:uFillTx/>
                <a:latin typeface="Arial"/>
                <a:ea typeface="Arial"/>
              </a:rPr>
              <a:t>IXPs and their members, as the operators report them</a:t>
            </a:r>
            <a:endParaRPr lang="en-US" sz="2600" b="0" u="none" strike="noStrike">
              <a:solidFill>
                <a:srgbClr val="000000"/>
              </a:solidFill>
              <a:effectLst/>
              <a:uFillTx/>
              <a:latin typeface="Arial"/>
            </a:endParaRPr>
          </a:p>
        </p:txBody>
      </p:sp>
      <p:sp>
        <p:nvSpPr>
          <p:cNvPr id="153" name="Text 19"/>
          <p:cNvSpPr/>
          <p:nvPr/>
        </p:nvSpPr>
        <p:spPr>
          <a:xfrm>
            <a:off x="12456000" y="6462360"/>
            <a:ext cx="420588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1800" b="0" u="none" strike="noStrike" spc="108">
                <a:solidFill>
                  <a:srgbClr val="6C757D"/>
                </a:solidFill>
                <a:effectLst/>
                <a:uFillTx/>
                <a:latin typeface="Arial"/>
                <a:ea typeface="Arial"/>
              </a:rPr>
              <a:t>REFERENCE</a:t>
            </a:r>
            <a:endParaRPr lang="en-US" sz="1800" b="0" u="none" strike="noStrike">
              <a:solidFill>
                <a:srgbClr val="000000"/>
              </a:solidFill>
              <a:effectLst/>
              <a:uFillTx/>
              <a:latin typeface="Arial"/>
            </a:endParaRPr>
          </a:p>
        </p:txBody>
      </p:sp>
      <p:sp>
        <p:nvSpPr>
          <p:cNvPr id="154" name="Text 20"/>
          <p:cNvSpPr/>
          <p:nvPr/>
        </p:nvSpPr>
        <p:spPr>
          <a:xfrm>
            <a:off x="12456000" y="6811560"/>
            <a:ext cx="4205880" cy="411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r" defTabSz="914400">
              <a:lnSpc>
                <a:spcPct val="100000"/>
              </a:lnSpc>
              <a:tabLst>
                <a:tab pos="0" algn="l"/>
              </a:tabLst>
            </a:pPr>
            <a:r>
              <a:rPr lang="en-US" sz="2200" b="0" u="none" strike="noStrike">
                <a:solidFill>
                  <a:srgbClr val="2B5187"/>
                </a:solidFill>
                <a:effectLst/>
                <a:uFillTx/>
                <a:latin typeface="Roboto Mono"/>
                <a:ea typeface="Arial"/>
              </a:rPr>
              <a:t>peeringdb.ix</a:t>
            </a:r>
            <a:endParaRPr lang="en-US" sz="2200" b="0" u="none" strike="noStrike">
              <a:solidFill>
                <a:srgbClr val="000000"/>
              </a:solidFill>
              <a:effectLst/>
              <a:uFillTx/>
              <a:latin typeface="Arial"/>
            </a:endParaRPr>
          </a:p>
        </p:txBody>
      </p:sp>
      <p:sp>
        <p:nvSpPr>
          <p:cNvPr id="155" name="Text 21"/>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57"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WHY A GRAPH · SELECTION</a:t>
            </a:r>
            <a:endParaRPr lang="en-US" sz="1950" b="0" u="none" strike="noStrike">
              <a:solidFill>
                <a:srgbClr val="000000"/>
              </a:solidFill>
              <a:effectLst/>
              <a:uFillTx/>
              <a:latin typeface="Arial"/>
            </a:endParaRPr>
          </a:p>
        </p:txBody>
      </p:sp>
      <p:sp>
        <p:nvSpPr>
          <p:cNvPr id="158"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Why these datasets and not others</a:t>
            </a:r>
            <a:endParaRPr lang="en-US" sz="4650" b="0" u="none" strike="noStrike">
              <a:solidFill>
                <a:srgbClr val="000000"/>
              </a:solidFill>
              <a:effectLst/>
              <a:uFillTx/>
              <a:latin typeface="Arial"/>
            </a:endParaRPr>
          </a:p>
        </p:txBody>
      </p:sp>
      <p:sp>
        <p:nvSpPr>
          <p:cNvPr id="159"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Recognised: peer reviewed, or independently used, or authoritative.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Not redundant: no two datasets derived from the same source.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Fresh, and licensed so the merged snapshots can be shared at all.</a:t>
            </a:r>
            <a:endParaRPr lang="en-US" sz="3000" b="0" u="none" strike="noStrike">
              <a:solidFill>
                <a:srgbClr val="000000"/>
              </a:solidFill>
              <a:effectLst/>
              <a:uFillTx/>
              <a:latin typeface="Arial"/>
            </a:endParaRPr>
          </a:p>
        </p:txBody>
      </p:sp>
      <p:sp>
        <p:nvSpPr>
          <p:cNvPr id="160"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Four filters between a public dataset and a place in the graph</a:t>
            </a:r>
            <a:endParaRPr lang="en-US" sz="2400" b="0" u="none" strike="noStrike">
              <a:solidFill>
                <a:srgbClr val="000000"/>
              </a:solidFill>
              <a:effectLst/>
              <a:uFillTx/>
              <a:latin typeface="Arial"/>
            </a:endParaRPr>
          </a:p>
        </p:txBody>
      </p:sp>
      <p:sp>
        <p:nvSpPr>
          <p:cNvPr id="161"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162" name="Picture 14" descr="f12_selection_funnel.png"/>
          <p:cNvPicPr/>
          <p:nvPr/>
        </p:nvPicPr>
        <p:blipFill>
          <a:blip r:embed="rId3"/>
          <a:stretch/>
        </p:blipFill>
        <p:spPr>
          <a:xfrm>
            <a:off x="10769760" y="3907080"/>
            <a:ext cx="5891760" cy="350604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64"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THE NUMBERS</a:t>
            </a:r>
            <a:endParaRPr lang="en-US" sz="1950" b="0" u="none" strike="noStrike">
              <a:solidFill>
                <a:srgbClr val="000000"/>
              </a:solidFill>
              <a:effectLst/>
              <a:uFillTx/>
              <a:latin typeface="Arial"/>
            </a:endParaRPr>
          </a:p>
        </p:txBody>
      </p:sp>
      <p:sp>
        <p:nvSpPr>
          <p:cNvPr id="165"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IYP at publication</a:t>
            </a:r>
            <a:endParaRPr lang="en-US" sz="4650" b="0" u="none" strike="noStrike">
              <a:solidFill>
                <a:srgbClr val="000000"/>
              </a:solidFill>
              <a:effectLst/>
              <a:uFillTx/>
              <a:latin typeface="Arial"/>
            </a:endParaRPr>
          </a:p>
        </p:txBody>
      </p:sp>
      <p:sp>
        <p:nvSpPr>
          <p:cNvPr id="166" name="Shape 3"/>
          <p:cNvSpPr/>
          <p:nvPr/>
        </p:nvSpPr>
        <p:spPr>
          <a:xfrm>
            <a:off x="1238400" y="2341440"/>
            <a:ext cx="3752640" cy="2285640"/>
          </a:xfrm>
          <a:prstGeom prst="roundRect">
            <a:avLst>
              <a:gd name="adj" fmla="val 4167"/>
            </a:avLst>
          </a:prstGeom>
          <a:solidFill>
            <a:srgbClr val="F8F9F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67" name="Text 4"/>
          <p:cNvSpPr/>
          <p:nvPr/>
        </p:nvSpPr>
        <p:spPr>
          <a:xfrm>
            <a:off x="1581120" y="2932920"/>
            <a:ext cx="3373560" cy="647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4800" b="0" u="none" strike="noStrike">
                <a:solidFill>
                  <a:srgbClr val="2B5187"/>
                </a:solidFill>
                <a:effectLst/>
                <a:uFillTx/>
                <a:latin typeface="Arial"/>
                <a:ea typeface="Arial"/>
              </a:rPr>
              <a:t>46</a:t>
            </a:r>
            <a:endParaRPr lang="en-US" sz="4800" b="0" u="none" strike="noStrike">
              <a:solidFill>
                <a:srgbClr val="000000"/>
              </a:solidFill>
              <a:effectLst/>
              <a:uFillTx/>
              <a:latin typeface="Arial"/>
            </a:endParaRPr>
          </a:p>
        </p:txBody>
      </p:sp>
      <p:sp>
        <p:nvSpPr>
          <p:cNvPr id="168" name="Text 5"/>
          <p:cNvSpPr/>
          <p:nvPr/>
        </p:nvSpPr>
        <p:spPr>
          <a:xfrm>
            <a:off x="1581120" y="3714120"/>
            <a:ext cx="3373560" cy="868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0000"/>
              </a:lnSpc>
              <a:tabLst>
                <a:tab pos="0" algn="l"/>
              </a:tabLst>
            </a:pPr>
            <a:r>
              <a:rPr lang="en-US" sz="2400" b="0" u="none" strike="noStrike">
                <a:solidFill>
                  <a:srgbClr val="343A40"/>
                </a:solidFill>
                <a:effectLst/>
                <a:uFillTx/>
                <a:latin typeface="Arial"/>
                <a:ea typeface="Arial"/>
              </a:rPr>
              <a:t>datasets integrated</a:t>
            </a:r>
            <a:endParaRPr lang="en-US" sz="2400" b="0" u="none" strike="noStrike">
              <a:solidFill>
                <a:srgbClr val="000000"/>
              </a:solidFill>
              <a:effectLst/>
              <a:uFillTx/>
              <a:latin typeface="Arial"/>
            </a:endParaRPr>
          </a:p>
        </p:txBody>
      </p:sp>
      <p:sp>
        <p:nvSpPr>
          <p:cNvPr id="169" name="Shape 6"/>
          <p:cNvSpPr/>
          <p:nvPr/>
        </p:nvSpPr>
        <p:spPr>
          <a:xfrm>
            <a:off x="5257800" y="2341440"/>
            <a:ext cx="3752640" cy="2285640"/>
          </a:xfrm>
          <a:prstGeom prst="roundRect">
            <a:avLst>
              <a:gd name="adj" fmla="val 4167"/>
            </a:avLst>
          </a:prstGeom>
          <a:solidFill>
            <a:srgbClr val="F8F9F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70" name="Text 7"/>
          <p:cNvSpPr/>
          <p:nvPr/>
        </p:nvSpPr>
        <p:spPr>
          <a:xfrm>
            <a:off x="5600880" y="2932920"/>
            <a:ext cx="3373560" cy="647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4800" b="0" u="none" strike="noStrike">
                <a:solidFill>
                  <a:srgbClr val="2B5187"/>
                </a:solidFill>
                <a:effectLst/>
                <a:uFillTx/>
                <a:latin typeface="Arial"/>
                <a:ea typeface="Arial"/>
              </a:rPr>
              <a:t>23</a:t>
            </a:r>
            <a:endParaRPr lang="en-US" sz="4800" b="0" u="none" strike="noStrike">
              <a:solidFill>
                <a:srgbClr val="000000"/>
              </a:solidFill>
              <a:effectLst/>
              <a:uFillTx/>
              <a:latin typeface="Arial"/>
            </a:endParaRPr>
          </a:p>
        </p:txBody>
      </p:sp>
      <p:sp>
        <p:nvSpPr>
          <p:cNvPr id="171" name="Text 8"/>
          <p:cNvSpPr/>
          <p:nvPr/>
        </p:nvSpPr>
        <p:spPr>
          <a:xfrm>
            <a:off x="5600880" y="3714120"/>
            <a:ext cx="3373560" cy="868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0000"/>
              </a:lnSpc>
              <a:tabLst>
                <a:tab pos="0" algn="l"/>
              </a:tabLst>
            </a:pPr>
            <a:r>
              <a:rPr lang="en-US" sz="2400" b="0" u="none" strike="noStrike">
                <a:solidFill>
                  <a:srgbClr val="343A40"/>
                </a:solidFill>
                <a:effectLst/>
                <a:uFillTx/>
                <a:latin typeface="Arial"/>
                <a:ea typeface="Arial"/>
              </a:rPr>
              <a:t>organisations providing them</a:t>
            </a:r>
            <a:endParaRPr lang="en-US" sz="2400" b="0" u="none" strike="noStrike">
              <a:solidFill>
                <a:srgbClr val="000000"/>
              </a:solidFill>
              <a:effectLst/>
              <a:uFillTx/>
              <a:latin typeface="Arial"/>
            </a:endParaRPr>
          </a:p>
        </p:txBody>
      </p:sp>
      <p:sp>
        <p:nvSpPr>
          <p:cNvPr id="172" name="Shape 9"/>
          <p:cNvSpPr/>
          <p:nvPr/>
        </p:nvSpPr>
        <p:spPr>
          <a:xfrm>
            <a:off x="9277200" y="2341440"/>
            <a:ext cx="3752640" cy="2285640"/>
          </a:xfrm>
          <a:prstGeom prst="roundRect">
            <a:avLst>
              <a:gd name="adj" fmla="val 4167"/>
            </a:avLst>
          </a:prstGeom>
          <a:solidFill>
            <a:srgbClr val="F8F9F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73" name="Text 10"/>
          <p:cNvSpPr/>
          <p:nvPr/>
        </p:nvSpPr>
        <p:spPr>
          <a:xfrm>
            <a:off x="9620280" y="2932920"/>
            <a:ext cx="3373560" cy="647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4800" b="0" u="none" strike="noStrike">
                <a:solidFill>
                  <a:srgbClr val="2B5187"/>
                </a:solidFill>
                <a:effectLst/>
                <a:uFillTx/>
                <a:latin typeface="Arial"/>
                <a:ea typeface="Arial"/>
              </a:rPr>
              <a:t>24</a:t>
            </a:r>
            <a:endParaRPr lang="en-US" sz="4800" b="0" u="none" strike="noStrike">
              <a:solidFill>
                <a:srgbClr val="000000"/>
              </a:solidFill>
              <a:effectLst/>
              <a:uFillTx/>
              <a:latin typeface="Arial"/>
            </a:endParaRPr>
          </a:p>
        </p:txBody>
      </p:sp>
      <p:sp>
        <p:nvSpPr>
          <p:cNvPr id="174" name="Text 11"/>
          <p:cNvSpPr/>
          <p:nvPr/>
        </p:nvSpPr>
        <p:spPr>
          <a:xfrm>
            <a:off x="9620280" y="3714120"/>
            <a:ext cx="3373560" cy="868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0000"/>
              </a:lnSpc>
              <a:tabLst>
                <a:tab pos="0" algn="l"/>
              </a:tabLst>
            </a:pPr>
            <a:r>
              <a:rPr lang="en-US" sz="2400" b="0" u="none" strike="noStrike">
                <a:solidFill>
                  <a:srgbClr val="343A40"/>
                </a:solidFill>
                <a:effectLst/>
                <a:uFillTx/>
                <a:latin typeface="Arial"/>
                <a:ea typeface="Arial"/>
              </a:rPr>
              <a:t>node types in the ontology</a:t>
            </a:r>
            <a:endParaRPr lang="en-US" sz="2400" b="0" u="none" strike="noStrike">
              <a:solidFill>
                <a:srgbClr val="000000"/>
              </a:solidFill>
              <a:effectLst/>
              <a:uFillTx/>
              <a:latin typeface="Arial"/>
            </a:endParaRPr>
          </a:p>
        </p:txBody>
      </p:sp>
      <p:sp>
        <p:nvSpPr>
          <p:cNvPr id="175" name="Shape 12"/>
          <p:cNvSpPr/>
          <p:nvPr/>
        </p:nvSpPr>
        <p:spPr>
          <a:xfrm>
            <a:off x="13296960" y="2341440"/>
            <a:ext cx="3752640" cy="2285640"/>
          </a:xfrm>
          <a:prstGeom prst="roundRect">
            <a:avLst>
              <a:gd name="adj" fmla="val 4167"/>
            </a:avLst>
          </a:prstGeom>
          <a:solidFill>
            <a:srgbClr val="F8F9F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176" name="Text 13"/>
          <p:cNvSpPr/>
          <p:nvPr/>
        </p:nvSpPr>
        <p:spPr>
          <a:xfrm>
            <a:off x="13639680" y="2932920"/>
            <a:ext cx="3373560" cy="647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4800" b="0" u="none" strike="noStrike">
                <a:solidFill>
                  <a:srgbClr val="2B5187"/>
                </a:solidFill>
                <a:effectLst/>
                <a:uFillTx/>
                <a:latin typeface="Arial"/>
                <a:ea typeface="Arial"/>
              </a:rPr>
              <a:t>4x</a:t>
            </a:r>
            <a:endParaRPr lang="en-US" sz="4800" b="0" u="none" strike="noStrike">
              <a:solidFill>
                <a:srgbClr val="000000"/>
              </a:solidFill>
              <a:effectLst/>
              <a:uFillTx/>
              <a:latin typeface="Arial"/>
            </a:endParaRPr>
          </a:p>
        </p:txBody>
      </p:sp>
      <p:sp>
        <p:nvSpPr>
          <p:cNvPr id="177" name="Text 14"/>
          <p:cNvSpPr/>
          <p:nvPr/>
        </p:nvSpPr>
        <p:spPr>
          <a:xfrm>
            <a:off x="13639680" y="3714120"/>
            <a:ext cx="3373560" cy="8683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0000"/>
              </a:lnSpc>
              <a:tabLst>
                <a:tab pos="0" algn="l"/>
              </a:tabLst>
            </a:pPr>
            <a:r>
              <a:rPr lang="en-US" sz="2400" b="0" u="none" strike="noStrike">
                <a:solidFill>
                  <a:srgbClr val="343A40"/>
                </a:solidFill>
                <a:effectLst/>
                <a:uFillTx/>
                <a:latin typeface="Arial"/>
                <a:ea typeface="Arial"/>
              </a:rPr>
              <a:t>rebuilds every month</a:t>
            </a:r>
            <a:endParaRPr lang="en-US" sz="2400" b="0" u="none" strike="noStrike">
              <a:solidFill>
                <a:srgbClr val="000000"/>
              </a:solidFill>
              <a:effectLst/>
              <a:uFillTx/>
              <a:latin typeface="Arial"/>
            </a:endParaRPr>
          </a:p>
        </p:txBody>
      </p:sp>
      <p:sp>
        <p:nvSpPr>
          <p:cNvPr id="178" name="Text 15"/>
          <p:cNvSpPr/>
          <p:nvPr/>
        </p:nvSpPr>
        <p:spPr>
          <a:xfrm>
            <a:off x="1238400" y="5027400"/>
            <a:ext cx="14668200" cy="10054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3000" b="0" u="none" strike="noStrike">
                <a:solidFill>
                  <a:srgbClr val="6C757D"/>
                </a:solidFill>
                <a:effectLst/>
                <a:uFillTx/>
                <a:latin typeface="Arial"/>
                <a:ea typeface="Arial"/>
              </a:rPr>
              <a:t>Figures as published in May 2024. The graph has grown since.</a:t>
            </a:r>
            <a:endParaRPr lang="en-US" sz="3000" b="0" u="none" strike="noStrike">
              <a:solidFill>
                <a:srgbClr val="000000"/>
              </a:solidFill>
              <a:effectLst/>
              <a:uFillTx/>
              <a:latin typeface="Arial"/>
            </a:endParaRPr>
          </a:p>
        </p:txBody>
      </p:sp>
      <p:sp>
        <p:nvSpPr>
          <p:cNvPr id="179" name="Text 16"/>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180" name="Text 3"/>
          <p:cNvSpPr/>
          <p:nvPr/>
        </p:nvSpPr>
        <p:spPr>
          <a:xfrm>
            <a:off x="1238400" y="2190600"/>
            <a:ext cx="809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PART TWO</a:t>
            </a:r>
            <a:endParaRPr lang="en-US" sz="1950" b="0" u="none" strike="noStrike">
              <a:solidFill>
                <a:srgbClr val="FFFFFF"/>
              </a:solidFill>
              <a:effectLst/>
              <a:uFillTx/>
              <a:latin typeface="Arial"/>
            </a:endParaRPr>
          </a:p>
        </p:txBody>
      </p:sp>
      <p:sp>
        <p:nvSpPr>
          <p:cNvPr id="181" name="Text 4"/>
          <p:cNvSpPr/>
          <p:nvPr/>
        </p:nvSpPr>
        <p:spPr>
          <a:xfrm>
            <a:off x="1238400" y="2565360"/>
            <a:ext cx="8098200" cy="183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90000"/>
              </a:lnSpc>
              <a:tabLst>
                <a:tab pos="0" algn="l"/>
              </a:tabLst>
            </a:pPr>
            <a:r>
              <a:rPr lang="en-US" sz="15750" b="0" u="none" strike="noStrike" spc="-315">
                <a:solidFill>
                  <a:srgbClr val="FFFFFF"/>
                </a:solidFill>
                <a:effectLst/>
                <a:uFillTx/>
                <a:latin typeface="Arial"/>
                <a:ea typeface="Arial"/>
              </a:rPr>
              <a:t>02</a:t>
            </a:r>
            <a:endParaRPr lang="en-US" sz="15750" b="0" u="none" strike="noStrike">
              <a:solidFill>
                <a:srgbClr val="FFFFFF"/>
              </a:solidFill>
              <a:effectLst/>
              <a:uFillTx/>
              <a:latin typeface="Arial"/>
            </a:endParaRPr>
          </a:p>
        </p:txBody>
      </p:sp>
      <p:sp>
        <p:nvSpPr>
          <p:cNvPr id="182" name="Text 5"/>
          <p:cNvSpPr/>
          <p:nvPr/>
        </p:nvSpPr>
        <p:spPr>
          <a:xfrm>
            <a:off x="1238400" y="4613400"/>
            <a:ext cx="8098200" cy="1513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800" b="0" u="none" strike="noStrike" spc="-48">
                <a:solidFill>
                  <a:srgbClr val="FFFFFF"/>
                </a:solidFill>
                <a:effectLst/>
                <a:uFillTx/>
                <a:latin typeface="Arial"/>
                <a:ea typeface="Arial"/>
              </a:rPr>
              <a:t>Nodes, relationships, provenance</a:t>
            </a:r>
            <a:endParaRPr lang="en-US" sz="4800" b="0" u="none" strike="noStrike">
              <a:solidFill>
                <a:srgbClr val="FFFFFF"/>
              </a:solidFill>
              <a:effectLst/>
              <a:uFillTx/>
              <a:latin typeface="Arial"/>
            </a:endParaRPr>
          </a:p>
        </p:txBody>
      </p:sp>
      <p:sp>
        <p:nvSpPr>
          <p:cNvPr id="183" name="Text 6"/>
          <p:cNvSpPr/>
          <p:nvPr/>
        </p:nvSpPr>
        <p:spPr>
          <a:xfrm>
            <a:off x="1238400" y="6222600"/>
            <a:ext cx="8098200" cy="474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550" b="0" u="none" strike="noStrike">
                <a:solidFill>
                  <a:srgbClr val="A9C2E4"/>
                </a:solidFill>
                <a:effectLst/>
                <a:uFillTx/>
                <a:latin typeface="Arial"/>
                <a:ea typeface="Arial"/>
              </a:rPr>
              <a:t>The one modelling choice you have to understand first</a:t>
            </a:r>
            <a:endParaRPr lang="en-US" sz="2550" b="0" u="none" strike="noStrike">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85"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DATA MODEL · LABELS AND TYPES</a:t>
            </a:r>
            <a:endParaRPr lang="en-US" sz="1950" b="0" u="none" strike="noStrike">
              <a:solidFill>
                <a:srgbClr val="000000"/>
              </a:solidFill>
              <a:effectLst/>
              <a:uFillTx/>
              <a:latin typeface="Arial"/>
            </a:endParaRPr>
          </a:p>
        </p:txBody>
      </p:sp>
      <p:sp>
        <p:nvSpPr>
          <p:cNvPr id="186"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Nodes carry labels, relationships carry exactly one type</a:t>
            </a:r>
            <a:endParaRPr lang="en-US" sz="4650" b="0" u="none" strike="noStrike">
              <a:solidFill>
                <a:srgbClr val="000000"/>
              </a:solidFill>
              <a:effectLst/>
              <a:uFillTx/>
              <a:latin typeface="Arial"/>
            </a:endParaRPr>
          </a:p>
        </p:txBody>
      </p:sp>
      <p:sp>
        <p:nvSpPr>
          <p:cNvPr id="187"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A node has one or more labels naming what it is.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A relationship has exactly one type, and its own properties.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Node labels are camel case, relationship types upper snake case.</a:t>
            </a:r>
            <a:endParaRPr lang="en-US" sz="3000" b="0" u="none" strike="noStrike">
              <a:solidFill>
                <a:srgbClr val="000000"/>
              </a:solidFill>
              <a:effectLst/>
              <a:uFillTx/>
              <a:latin typeface="Arial"/>
            </a:endParaRPr>
          </a:p>
        </p:txBody>
      </p:sp>
      <p:sp>
        <p:nvSpPr>
          <p:cNvPr id="188"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A labelled node, a typed edge, and the naming convention</a:t>
            </a:r>
            <a:endParaRPr lang="en-US" sz="2400" b="0" u="none" strike="noStrike">
              <a:solidFill>
                <a:srgbClr val="000000"/>
              </a:solidFill>
              <a:effectLst/>
              <a:uFillTx/>
              <a:latin typeface="Arial"/>
            </a:endParaRPr>
          </a:p>
        </p:txBody>
      </p:sp>
      <p:sp>
        <p:nvSpPr>
          <p:cNvPr id="189"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190" name="Picture 14" descr="f15_label_and_type.png"/>
          <p:cNvPicPr/>
          <p:nvPr/>
        </p:nvPicPr>
        <p:blipFill>
          <a:blip r:embed="rId3"/>
          <a:stretch/>
        </p:blipFill>
        <p:spPr>
          <a:xfrm>
            <a:off x="10771920" y="3907080"/>
            <a:ext cx="5887440" cy="350604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92"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DATA MODEL · THE KEY CHOICE</a:t>
            </a:r>
            <a:endParaRPr lang="en-US" sz="1950" b="0" u="none" strike="noStrike">
              <a:solidFill>
                <a:srgbClr val="000000"/>
              </a:solidFill>
              <a:effectLst/>
              <a:uFillTx/>
              <a:latin typeface="Arial"/>
            </a:endParaRPr>
          </a:p>
        </p:txBody>
      </p:sp>
      <p:sp>
        <p:nvSpPr>
          <p:cNvPr id="193"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IYP stores every source's claim, not one truth</a:t>
            </a:r>
            <a:endParaRPr lang="en-US" sz="4650" b="0" u="none" strike="noStrike">
              <a:solidFill>
                <a:srgbClr val="000000"/>
              </a:solidFill>
              <a:effectLst/>
              <a:uFillTx/>
              <a:latin typeface="Arial"/>
            </a:endParaRPr>
          </a:p>
        </p:txBody>
      </p:sp>
      <p:sp>
        <p:nvSpPr>
          <p:cNvPr id="194"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An AS name is not a property. It is a Name node reached by NAME.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PeeringDB, BGP.Tools and RIPE NCC each get their own NAME edge.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Sources genuinely disagree, and flattening them would hide it.</a:t>
            </a:r>
            <a:endParaRPr lang="en-US" sz="3000" b="0" u="none" strike="noStrike">
              <a:solidFill>
                <a:srgbClr val="000000"/>
              </a:solidFill>
              <a:effectLst/>
              <a:uFillTx/>
              <a:latin typeface="Arial"/>
            </a:endParaRPr>
          </a:p>
        </p:txBody>
      </p:sp>
      <p:sp>
        <p:nvSpPr>
          <p:cNvPr id="195"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One AS, three sources, three separate claims</a:t>
            </a:r>
            <a:endParaRPr lang="en-US" sz="2400" b="0" u="none" strike="noStrike">
              <a:solidFill>
                <a:srgbClr val="000000"/>
              </a:solidFill>
              <a:effectLst/>
              <a:uFillTx/>
              <a:latin typeface="Arial"/>
            </a:endParaRPr>
          </a:p>
        </p:txBody>
      </p:sp>
      <p:sp>
        <p:nvSpPr>
          <p:cNvPr id="196"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197" name="Picture 14" descr="f16_three_names.png"/>
          <p:cNvPicPr/>
          <p:nvPr/>
        </p:nvPicPr>
        <p:blipFill>
          <a:blip r:embed="rId3"/>
          <a:stretch/>
        </p:blipFill>
        <p:spPr>
          <a:xfrm>
            <a:off x="10770840" y="3907080"/>
            <a:ext cx="5890320" cy="350604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8"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199"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DATA MODEL · PROVENANCE</a:t>
            </a:r>
            <a:endParaRPr lang="en-US" sz="1950" b="0" u="none" strike="noStrike">
              <a:solidFill>
                <a:srgbClr val="000000"/>
              </a:solidFill>
              <a:effectLst/>
              <a:uFillTx/>
              <a:latin typeface="Arial"/>
            </a:endParaRPr>
          </a:p>
        </p:txBody>
      </p:sp>
      <p:sp>
        <p:nvSpPr>
          <p:cNvPr id="200"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Every relationship records where the fact came from</a:t>
            </a:r>
            <a:endParaRPr lang="en-US" sz="4650" b="0" u="none" strike="noStrike">
              <a:solidFill>
                <a:srgbClr val="000000"/>
              </a:solidFill>
              <a:effectLst/>
              <a:uFillTx/>
              <a:latin typeface="Arial"/>
            </a:endParaRPr>
          </a:p>
        </p:txBody>
      </p:sp>
      <p:sp>
        <p:nvSpPr>
          <p:cNvPr id="201"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reference_org, reference_name, the fetch time, the source URL.</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Filter on those before you aggregate, or you average rivals together.</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It is also how you check a result after the fact.</a:t>
            </a:r>
            <a:endParaRPr lang="en-US" sz="3000" b="0" u="none" strike="noStrike">
              <a:solidFill>
                <a:srgbClr val="000000"/>
              </a:solidFill>
              <a:effectLst/>
              <a:uFillTx/>
              <a:latin typeface="Arial"/>
            </a:endParaRPr>
          </a:p>
        </p:txBody>
      </p:sp>
      <p:sp>
        <p:nvSpPr>
          <p:cNvPr id="202"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Provenance properties hanging off a single relationship</a:t>
            </a:r>
            <a:endParaRPr lang="en-US" sz="2400" b="0" u="none" strike="noStrike">
              <a:solidFill>
                <a:srgbClr val="000000"/>
              </a:solidFill>
              <a:effectLst/>
              <a:uFillTx/>
              <a:latin typeface="Arial"/>
            </a:endParaRPr>
          </a:p>
        </p:txBody>
      </p:sp>
      <p:sp>
        <p:nvSpPr>
          <p:cNvPr id="203"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204" name="Picture 14" descr="f17_provenance.png"/>
          <p:cNvPicPr/>
          <p:nvPr/>
        </p:nvPicPr>
        <p:blipFill>
          <a:blip r:embed="rId3"/>
          <a:stretch/>
        </p:blipFill>
        <p:spPr>
          <a:xfrm>
            <a:off x="10770480" y="3907080"/>
            <a:ext cx="5890680" cy="350604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06"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DATA MODEL · YOUR CORNER OF IT</a:t>
            </a:r>
            <a:endParaRPr lang="en-US" sz="1950" b="0" u="none" strike="noStrike">
              <a:solidFill>
                <a:srgbClr val="000000"/>
              </a:solidFill>
              <a:effectLst/>
              <a:uFillTx/>
              <a:latin typeface="Arial"/>
            </a:endParaRPr>
          </a:p>
        </p:txBody>
      </p:sp>
      <p:sp>
        <p:nvSpPr>
          <p:cNvPr id="207"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Nine labels and ten relationship types carry the whole assignment</a:t>
            </a:r>
            <a:endParaRPr lang="en-US" sz="4650" b="0" u="none" strike="noStrike">
              <a:solidFill>
                <a:srgbClr val="000000"/>
              </a:solidFill>
              <a:effectLst/>
              <a:uFillTx/>
              <a:latin typeface="Arial"/>
            </a:endParaRPr>
          </a:p>
        </p:txBody>
      </p:sp>
      <p:sp>
        <p:nvSpPr>
          <p:cNvPr id="208"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AS, BGPPrefix, RPKIPrefix, IP, HostName, IXP, Ranking, Name, Tag.</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ORIGINATE, PART_OF, RESOLVES_TO, MANAGED_BY, PEERS_WITH, MEMBER_OF.</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Plus NAME, RANK, CATEGORIZED and ROUTE_ORIGIN_AUTHORIZATION.</a:t>
            </a:r>
            <a:endParaRPr lang="en-US" sz="3000" b="0" u="none" strike="noStrike">
              <a:solidFill>
                <a:srgbClr val="000000"/>
              </a:solidFill>
              <a:effectLst/>
              <a:uFillTx/>
              <a:latin typeface="Arial"/>
            </a:endParaRPr>
          </a:p>
        </p:txBody>
      </p:sp>
      <p:sp>
        <p:nvSpPr>
          <p:cNvPr id="209"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The subgraph the three tasks actually traverse</a:t>
            </a:r>
            <a:endParaRPr lang="en-US" sz="2400" b="0" u="none" strike="noStrike">
              <a:solidFill>
                <a:srgbClr val="000000"/>
              </a:solidFill>
              <a:effectLst/>
              <a:uFillTx/>
              <a:latin typeface="Arial"/>
            </a:endParaRPr>
          </a:p>
        </p:txBody>
      </p:sp>
      <p:sp>
        <p:nvSpPr>
          <p:cNvPr id="210"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211" name="Picture 14" descr="f18_subgraph.png"/>
          <p:cNvPicPr/>
          <p:nvPr/>
        </p:nvPicPr>
        <p:blipFill>
          <a:blip r:embed="rId3"/>
          <a:stretch/>
        </p:blipFill>
        <p:spPr>
          <a:xfrm>
            <a:off x="10770120" y="3907080"/>
            <a:ext cx="5891400" cy="3506040"/>
          </a:xfrm>
          <a:prstGeom prst="rect">
            <a:avLst/>
          </a:prstGeom>
          <a:noFill/>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2"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13"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CASE STUDY</a:t>
            </a:r>
            <a:endParaRPr lang="en-US" sz="1950" b="0" u="none" strike="noStrike">
              <a:solidFill>
                <a:srgbClr val="000000"/>
              </a:solidFill>
              <a:effectLst/>
              <a:uFillTx/>
              <a:latin typeface="Arial"/>
            </a:endParaRPr>
          </a:p>
        </p:txBody>
      </p:sp>
      <p:sp>
        <p:nvSpPr>
          <p:cNvPr id="214"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One domain name, thirteen datasets</a:t>
            </a:r>
            <a:endParaRPr lang="en-US" sz="4650" b="0" u="none" strike="noStrike">
              <a:solidFill>
                <a:srgbClr val="000000"/>
              </a:solidFill>
              <a:effectLst/>
              <a:uFillTx/>
              <a:latin typeface="Arial"/>
            </a:endParaRPr>
          </a:p>
        </p:txBody>
      </p:sp>
      <p:grpSp>
        <p:nvGrpSpPr>
          <p:cNvPr id="5" name="Group 4">
            <a:extLst>
              <a:ext uri="{FF2B5EF4-FFF2-40B4-BE49-F238E27FC236}">
                <a16:creationId xmlns:a16="http://schemas.microsoft.com/office/drawing/2014/main" id="{32349D9C-420C-E04D-F5C0-6E64F19F4152}"/>
              </a:ext>
            </a:extLst>
          </p:cNvPr>
          <p:cNvGrpSpPr/>
          <p:nvPr/>
        </p:nvGrpSpPr>
        <p:grpSpPr>
          <a:xfrm>
            <a:off x="829808" y="7297333"/>
            <a:ext cx="5488788" cy="2095269"/>
            <a:chOff x="829808" y="7297333"/>
            <a:chExt cx="5488788" cy="2095269"/>
          </a:xfrm>
        </p:grpSpPr>
        <p:sp>
          <p:nvSpPr>
            <p:cNvPr id="215" name="Text 3"/>
            <p:cNvSpPr/>
            <p:nvPr/>
          </p:nvSpPr>
          <p:spPr>
            <a:xfrm>
              <a:off x="829808" y="7297333"/>
              <a:ext cx="5482080" cy="328618"/>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defTabSz="914400">
                <a:lnSpc>
                  <a:spcPct val="100000"/>
                </a:lnSpc>
                <a:tabLst>
                  <a:tab pos="0" algn="l"/>
                </a:tabLst>
              </a:pPr>
              <a:r>
                <a:rPr lang="en-US" sz="1800" b="1" u="none" strike="noStrike" spc="181">
                  <a:solidFill>
                    <a:srgbClr val="2B5187"/>
                  </a:solidFill>
                  <a:effectLst/>
                  <a:uFillTx/>
                  <a:latin typeface="Arial"/>
                  <a:ea typeface="Arial"/>
                </a:rPr>
                <a:t>SETUP</a:t>
              </a:r>
              <a:endParaRPr lang="en-US" sz="1800" b="0" u="none" strike="noStrike">
                <a:solidFill>
                  <a:srgbClr val="000000"/>
                </a:solidFill>
                <a:effectLst/>
                <a:uFillTx/>
                <a:latin typeface="Arial"/>
              </a:endParaRPr>
            </a:p>
          </p:txBody>
        </p:sp>
        <p:sp>
          <p:nvSpPr>
            <p:cNvPr id="216" name="Text 4"/>
            <p:cNvSpPr/>
            <p:nvPr/>
          </p:nvSpPr>
          <p:spPr>
            <a:xfrm>
              <a:off x="829808" y="7623910"/>
              <a:ext cx="5488788" cy="1768692"/>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defTabSz="914400">
                <a:lnSpc>
                  <a:spcPct val="138000"/>
                </a:lnSpc>
                <a:tabLst>
                  <a:tab pos="0" algn="l"/>
                </a:tabLst>
              </a:pPr>
              <a:r>
                <a:rPr lang="en-US" sz="2800" b="0" u="none" strike="noStrike">
                  <a:solidFill>
                    <a:srgbClr val="343A40"/>
                  </a:solidFill>
                  <a:effectLst/>
                  <a:uFillTx/>
                  <a:latin typeface="Arial"/>
                  <a:ea typeface="Arial"/>
                </a:rPr>
                <a:t>Start at a single DomainName node, nytimes.com, and follow relationships outward.</a:t>
              </a:r>
              <a:endParaRPr lang="en-US" sz="2800" b="0" u="none" strike="noStrike">
                <a:solidFill>
                  <a:srgbClr val="000000"/>
                </a:solidFill>
                <a:effectLst/>
                <a:uFillTx/>
                <a:latin typeface="Arial"/>
              </a:endParaRPr>
            </a:p>
          </p:txBody>
        </p:sp>
      </p:grpSp>
      <p:grpSp>
        <p:nvGrpSpPr>
          <p:cNvPr id="4" name="Group 3">
            <a:extLst>
              <a:ext uri="{FF2B5EF4-FFF2-40B4-BE49-F238E27FC236}">
                <a16:creationId xmlns:a16="http://schemas.microsoft.com/office/drawing/2014/main" id="{4F9B6898-55E0-01F3-56A9-0E163232EAB7}"/>
              </a:ext>
            </a:extLst>
          </p:cNvPr>
          <p:cNvGrpSpPr/>
          <p:nvPr/>
        </p:nvGrpSpPr>
        <p:grpSpPr>
          <a:xfrm>
            <a:off x="6643948" y="7297333"/>
            <a:ext cx="5494112" cy="2094909"/>
            <a:chOff x="6639135" y="7501813"/>
            <a:chExt cx="5494112" cy="2094909"/>
          </a:xfrm>
        </p:grpSpPr>
        <p:sp>
          <p:nvSpPr>
            <p:cNvPr id="217" name="Text 5"/>
            <p:cNvSpPr/>
            <p:nvPr/>
          </p:nvSpPr>
          <p:spPr>
            <a:xfrm>
              <a:off x="6639135" y="7501813"/>
              <a:ext cx="5494112" cy="328618"/>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a:tabLst>
                  <a:tab pos="0" algn="l"/>
                </a:tabLst>
              </a:pPr>
              <a:r>
                <a:rPr lang="en-US" b="1" spc="181">
                  <a:solidFill>
                    <a:srgbClr val="2B5187"/>
                  </a:solidFill>
                  <a:latin typeface="Arial"/>
                </a:rPr>
                <a:t>TRAVERSE THE GRAPH</a:t>
              </a:r>
              <a:endParaRPr lang="en-US"/>
            </a:p>
          </p:txBody>
        </p:sp>
        <p:sp>
          <p:nvSpPr>
            <p:cNvPr id="218" name="Text 6"/>
            <p:cNvSpPr/>
            <p:nvPr/>
          </p:nvSpPr>
          <p:spPr>
            <a:xfrm>
              <a:off x="6639135" y="7828030"/>
              <a:ext cx="5488788" cy="1768692"/>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defTabSz="914400">
                <a:lnSpc>
                  <a:spcPct val="138000"/>
                </a:lnSpc>
                <a:tabLst>
                  <a:tab pos="0" algn="l"/>
                </a:tabLst>
              </a:pPr>
              <a:r>
                <a:rPr lang="en-US" sz="2800">
                  <a:solidFill>
                    <a:srgbClr val="343A40"/>
                  </a:solidFill>
                  <a:latin typeface="Arial"/>
                  <a:ea typeface="Arial"/>
                </a:rPr>
                <a:t>Domain</a:t>
              </a:r>
              <a:r>
                <a:rPr lang="en-US" sz="2800" b="0" u="none" strike="noStrike">
                  <a:solidFill>
                    <a:srgbClr val="343A40"/>
                  </a:solidFill>
                  <a:effectLst/>
                  <a:uFillTx/>
                  <a:latin typeface="Arial"/>
                  <a:ea typeface="Arial"/>
                </a:rPr>
                <a:t> to hostname to IP to prefix to origin AS, then out to rankings, tags and nameservers.</a:t>
              </a:r>
              <a:endParaRPr lang="en-US" sz="2800" b="0" u="none" strike="noStrike">
                <a:solidFill>
                  <a:srgbClr val="000000"/>
                </a:solidFill>
                <a:effectLst/>
                <a:uFillTx/>
                <a:latin typeface="Arial"/>
              </a:endParaRPr>
            </a:p>
          </p:txBody>
        </p:sp>
      </p:grpSp>
      <p:grpSp>
        <p:nvGrpSpPr>
          <p:cNvPr id="3" name="Group 2">
            <a:extLst>
              <a:ext uri="{FF2B5EF4-FFF2-40B4-BE49-F238E27FC236}">
                <a16:creationId xmlns:a16="http://schemas.microsoft.com/office/drawing/2014/main" id="{98A0F25D-684F-C372-955C-378A70C51BAF}"/>
              </a:ext>
            </a:extLst>
          </p:cNvPr>
          <p:cNvGrpSpPr/>
          <p:nvPr/>
        </p:nvGrpSpPr>
        <p:grpSpPr>
          <a:xfrm>
            <a:off x="12458088" y="7297333"/>
            <a:ext cx="5484168" cy="2689438"/>
            <a:chOff x="12458088" y="7371936"/>
            <a:chExt cx="5484168" cy="2689438"/>
          </a:xfrm>
        </p:grpSpPr>
        <p:sp>
          <p:nvSpPr>
            <p:cNvPr id="219" name="Text 7"/>
            <p:cNvSpPr/>
            <p:nvPr/>
          </p:nvSpPr>
          <p:spPr>
            <a:xfrm>
              <a:off x="12458088" y="7371936"/>
              <a:ext cx="5482080" cy="328618"/>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defTabSz="914400">
                <a:lnSpc>
                  <a:spcPct val="100000"/>
                </a:lnSpc>
                <a:tabLst>
                  <a:tab pos="0" algn="l"/>
                </a:tabLst>
              </a:pPr>
              <a:r>
                <a:rPr lang="en-US" sz="1800" b="1" u="none" strike="noStrike" spc="181">
                  <a:solidFill>
                    <a:srgbClr val="2B5187"/>
                  </a:solidFill>
                  <a:effectLst/>
                  <a:uFillTx/>
                  <a:latin typeface="Arial"/>
                  <a:ea typeface="Arial"/>
                </a:rPr>
                <a:t>WHAT THE DATA SHOWED</a:t>
              </a:r>
              <a:endParaRPr lang="en-US" sz="1800" b="0" u="none" strike="noStrike">
                <a:solidFill>
                  <a:srgbClr val="000000"/>
                </a:solidFill>
                <a:effectLst/>
                <a:uFillTx/>
                <a:latin typeface="Arial"/>
              </a:endParaRPr>
            </a:p>
          </p:txBody>
        </p:sp>
        <p:sp>
          <p:nvSpPr>
            <p:cNvPr id="220" name="Text 8"/>
            <p:cNvSpPr/>
            <p:nvPr/>
          </p:nvSpPr>
          <p:spPr>
            <a:xfrm>
              <a:off x="12458088" y="7698032"/>
              <a:ext cx="5484168" cy="2363342"/>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defTabSz="914400">
                <a:lnSpc>
                  <a:spcPct val="138000"/>
                </a:lnSpc>
                <a:tabLst>
                  <a:tab pos="0" algn="l"/>
                </a:tabLst>
              </a:pPr>
              <a:r>
                <a:rPr lang="en-US" sz="2800" b="0" u="none" strike="noStrike">
                  <a:solidFill>
                    <a:srgbClr val="343A40"/>
                  </a:solidFill>
                  <a:effectLst/>
                  <a:uFillTx/>
                  <a:latin typeface="Arial"/>
                  <a:ea typeface="Arial"/>
                </a:rPr>
                <a:t>Thirteen independent datasets in one readable picture, with no join written by hand and no format conversion.</a:t>
              </a:r>
              <a:endParaRPr lang="en-US" sz="2800" b="0" u="none" strike="noStrike">
                <a:solidFill>
                  <a:srgbClr val="000000"/>
                </a:solidFill>
                <a:effectLst/>
                <a:uFillTx/>
                <a:latin typeface="Arial"/>
              </a:endParaRPr>
            </a:p>
          </p:txBody>
        </p:sp>
      </p:grpSp>
      <p:sp>
        <p:nvSpPr>
          <p:cNvPr id="224" name="Text 12"/>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9" name="Picture 8" descr="A diagram of a network&#10;&#10;Description automatically generated">
            <a:extLst>
              <a:ext uri="{FF2B5EF4-FFF2-40B4-BE49-F238E27FC236}">
                <a16:creationId xmlns:a16="http://schemas.microsoft.com/office/drawing/2014/main" id="{017A634E-79FD-BD21-288C-EA4A2D750C66}"/>
              </a:ext>
            </a:extLst>
          </p:cNvPr>
          <p:cNvPicPr>
            <a:picLocks noChangeAspect="1"/>
          </p:cNvPicPr>
          <p:nvPr/>
        </p:nvPicPr>
        <p:blipFill>
          <a:blip r:embed="rId3"/>
          <a:srcRect r="-28" b="-72"/>
          <a:stretch>
            <a:fillRect/>
          </a:stretch>
        </p:blipFill>
        <p:spPr>
          <a:xfrm>
            <a:off x="2744278" y="2257931"/>
            <a:ext cx="12804591" cy="50322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225" name="Text 3"/>
          <p:cNvSpPr/>
          <p:nvPr/>
        </p:nvSpPr>
        <p:spPr>
          <a:xfrm>
            <a:off x="1238400" y="2190600"/>
            <a:ext cx="809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PART THREE</a:t>
            </a:r>
            <a:endParaRPr lang="en-US" sz="1950" b="0" u="none" strike="noStrike">
              <a:solidFill>
                <a:srgbClr val="FFFFFF"/>
              </a:solidFill>
              <a:effectLst/>
              <a:uFillTx/>
              <a:latin typeface="Arial"/>
            </a:endParaRPr>
          </a:p>
        </p:txBody>
      </p:sp>
      <p:sp>
        <p:nvSpPr>
          <p:cNvPr id="226" name="Text 4"/>
          <p:cNvSpPr/>
          <p:nvPr/>
        </p:nvSpPr>
        <p:spPr>
          <a:xfrm>
            <a:off x="1238400" y="2565360"/>
            <a:ext cx="8098200" cy="183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90000"/>
              </a:lnSpc>
              <a:tabLst>
                <a:tab pos="0" algn="l"/>
              </a:tabLst>
            </a:pPr>
            <a:r>
              <a:rPr lang="en-US" sz="15750" b="0" u="none" strike="noStrike" spc="-315">
                <a:solidFill>
                  <a:srgbClr val="FFFFFF"/>
                </a:solidFill>
                <a:effectLst/>
                <a:uFillTx/>
                <a:latin typeface="Arial"/>
                <a:ea typeface="Arial"/>
              </a:rPr>
              <a:t>03</a:t>
            </a:r>
            <a:endParaRPr lang="en-US" sz="15750" b="0" u="none" strike="noStrike">
              <a:solidFill>
                <a:srgbClr val="FFFFFF"/>
              </a:solidFill>
              <a:effectLst/>
              <a:uFillTx/>
              <a:latin typeface="Arial"/>
            </a:endParaRPr>
          </a:p>
        </p:txBody>
      </p:sp>
      <p:sp>
        <p:nvSpPr>
          <p:cNvPr id="227" name="Text 5"/>
          <p:cNvSpPr/>
          <p:nvPr/>
        </p:nvSpPr>
        <p:spPr>
          <a:xfrm>
            <a:off x="1238400" y="4613400"/>
            <a:ext cx="8098200" cy="677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800" b="0" u="none" strike="noStrike" spc="-48">
                <a:solidFill>
                  <a:srgbClr val="FFFFFF"/>
                </a:solidFill>
                <a:effectLst/>
                <a:uFillTx/>
                <a:latin typeface="Arial"/>
                <a:ea typeface="Arial"/>
              </a:rPr>
              <a:t>Cypher</a:t>
            </a:r>
            <a:endParaRPr lang="en-US" sz="4800" b="0" u="none" strike="noStrike">
              <a:solidFill>
                <a:srgbClr val="FFFFFF"/>
              </a:solidFill>
              <a:effectLst/>
              <a:uFillTx/>
              <a:latin typeface="Arial"/>
            </a:endParaRPr>
          </a:p>
        </p:txBody>
      </p:sp>
      <p:sp>
        <p:nvSpPr>
          <p:cNvPr id="228" name="Text 6"/>
          <p:cNvSpPr/>
          <p:nvPr/>
        </p:nvSpPr>
        <p:spPr>
          <a:xfrm>
            <a:off x="1238400" y="5491080"/>
            <a:ext cx="8098200" cy="474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550" b="0" u="none" strike="noStrike">
                <a:solidFill>
                  <a:srgbClr val="A9C2E4"/>
                </a:solidFill>
                <a:effectLst/>
                <a:uFillTx/>
                <a:latin typeface="Arial"/>
                <a:ea typeface="Arial"/>
              </a:rPr>
              <a:t>Draw the pattern you want, and that is the query</a:t>
            </a:r>
            <a:endParaRPr lang="en-US" sz="2550" b="0" u="none" strike="noStrike">
              <a:solidFill>
                <a:srgbClr val="FFFFFF"/>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0CAFDDC2-7E0B-D40E-4BA0-69D7115B71F8}"/>
              </a:ext>
            </a:extLst>
          </p:cNvPr>
          <p:cNvCxnSpPr/>
          <p:nvPr/>
        </p:nvCxnSpPr>
        <p:spPr>
          <a:xfrm>
            <a:off x="11569153" y="4508343"/>
            <a:ext cx="3107670" cy="1"/>
          </a:xfrm>
          <a:prstGeom prst="straightConnector1">
            <a:avLst/>
          </a:prstGeom>
          <a:ln w="28575">
            <a:solidFill>
              <a:srgbClr val="4472C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9"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30"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CYPHER · THE IDEA</a:t>
            </a:r>
            <a:endParaRPr lang="en-US" sz="1950" b="0" u="none" strike="noStrike">
              <a:solidFill>
                <a:srgbClr val="000000"/>
              </a:solidFill>
              <a:effectLst/>
              <a:uFillTx/>
              <a:latin typeface="Arial"/>
            </a:endParaRPr>
          </a:p>
        </p:txBody>
      </p:sp>
      <p:sp>
        <p:nvSpPr>
          <p:cNvPr id="231"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 query is a drawing of the pattern you want</a:t>
            </a:r>
            <a:endParaRPr lang="en-US" sz="4650" b="0" u="none" strike="noStrike">
              <a:solidFill>
                <a:srgbClr val="000000"/>
              </a:solidFill>
              <a:effectLst/>
              <a:uFillTx/>
              <a:latin typeface="Arial"/>
            </a:endParaRPr>
          </a:p>
        </p:txBody>
      </p:sp>
      <p:sp>
        <p:nvSpPr>
          <p:cNvPr id="232" name="Text 4"/>
          <p:cNvSpPr/>
          <p:nvPr/>
        </p:nvSpPr>
        <p:spPr>
          <a:xfrm>
            <a:off x="1238400" y="4497336"/>
            <a:ext cx="8703072" cy="4050432"/>
          </a:xfrm>
          <a:prstGeom prst="rect">
            <a:avLst/>
          </a:prstGeom>
          <a:noFill/>
          <a:ln w="0">
            <a:noFill/>
          </a:ln>
        </p:spPr>
        <p:style>
          <a:lnRef idx="0">
            <a:scrgbClr r="0" g="0" b="0"/>
          </a:lnRef>
          <a:fillRef idx="0">
            <a:scrgbClr r="0" g="0" b="0"/>
          </a:fillRef>
          <a:effectRef idx="0">
            <a:scrgbClr r="0" g="0" b="0"/>
          </a:effectRef>
          <a:fontRef idx="minor"/>
        </p:style>
        <p:txBody>
          <a:bodyPr wrap="square"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Parentheses are nodes. Square brackets in the dashes are edges.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MATCH gives the pattern, WHERE constrains it, RETURN picks fields.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Edges are undirected unless you add an arrowhead on purpose.</a:t>
            </a:r>
            <a:endParaRPr lang="en-US" sz="3000" b="0" u="none" strike="noStrike">
              <a:solidFill>
                <a:srgbClr val="000000"/>
              </a:solidFill>
              <a:effectLst/>
              <a:uFillTx/>
              <a:latin typeface="Arial"/>
            </a:endParaRPr>
          </a:p>
        </p:txBody>
      </p:sp>
      <p:sp>
        <p:nvSpPr>
          <p:cNvPr id="233"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The same relationship, drawn and then written</a:t>
            </a:r>
            <a:endParaRPr lang="en-US" sz="2400" b="0" u="none" strike="noStrike">
              <a:solidFill>
                <a:srgbClr val="000000"/>
              </a:solidFill>
              <a:effectLst/>
              <a:uFillTx/>
              <a:latin typeface="Arial"/>
            </a:endParaRPr>
          </a:p>
        </p:txBody>
      </p:sp>
      <p:sp>
        <p:nvSpPr>
          <p:cNvPr id="234"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
        <p:nvSpPr>
          <p:cNvPr id="2" name="Rectangle: Rounded Corners 1">
            <a:extLst>
              <a:ext uri="{FF2B5EF4-FFF2-40B4-BE49-F238E27FC236}">
                <a16:creationId xmlns:a16="http://schemas.microsoft.com/office/drawing/2014/main" id="{EC15CF53-BFD2-3B62-AD11-236F2A79E199}"/>
              </a:ext>
            </a:extLst>
          </p:cNvPr>
          <p:cNvSpPr/>
          <p:nvPr/>
        </p:nvSpPr>
        <p:spPr>
          <a:xfrm>
            <a:off x="10887135" y="4197577"/>
            <a:ext cx="767132" cy="654517"/>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AS</a:t>
            </a:r>
          </a:p>
          <a:p>
            <a:pPr algn="ctr"/>
            <a:r>
              <a:rPr lang="en-US" sz="2000" b="1">
                <a:ea typeface="Calibri"/>
                <a:cs typeface="Calibri"/>
              </a:rPr>
              <a:t>2497</a:t>
            </a:r>
            <a:endParaRPr lang="en-US" sz="2000" b="1" dirty="0">
              <a:ea typeface="Calibri"/>
              <a:cs typeface="Calibri"/>
            </a:endParaRPr>
          </a:p>
        </p:txBody>
      </p:sp>
      <p:sp>
        <p:nvSpPr>
          <p:cNvPr id="3" name="Rectangle: Rounded Corners 2">
            <a:extLst>
              <a:ext uri="{FF2B5EF4-FFF2-40B4-BE49-F238E27FC236}">
                <a16:creationId xmlns:a16="http://schemas.microsoft.com/office/drawing/2014/main" id="{FAAA7D26-D412-7096-608A-8D8EE64EAB4D}"/>
              </a:ext>
            </a:extLst>
          </p:cNvPr>
          <p:cNvSpPr/>
          <p:nvPr/>
        </p:nvSpPr>
        <p:spPr>
          <a:xfrm>
            <a:off x="14337791" y="4151856"/>
            <a:ext cx="1264277" cy="700237"/>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Prefix</a:t>
            </a:r>
          </a:p>
        </p:txBody>
      </p:sp>
      <p:sp>
        <p:nvSpPr>
          <p:cNvPr id="4" name="TextBox 3">
            <a:extLst>
              <a:ext uri="{FF2B5EF4-FFF2-40B4-BE49-F238E27FC236}">
                <a16:creationId xmlns:a16="http://schemas.microsoft.com/office/drawing/2014/main" id="{3D6863E1-A160-E13F-A4A0-544EF9F26547}"/>
              </a:ext>
            </a:extLst>
          </p:cNvPr>
          <p:cNvSpPr txBox="1"/>
          <p:nvPr/>
        </p:nvSpPr>
        <p:spPr>
          <a:xfrm>
            <a:off x="12365575" y="4145751"/>
            <a:ext cx="126187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ORIGINATE</a:t>
            </a:r>
            <a:endParaRPr lang="en-US"/>
          </a:p>
        </p:txBody>
      </p:sp>
      <p:sp>
        <p:nvSpPr>
          <p:cNvPr id="6" name="TextBox 5">
            <a:extLst>
              <a:ext uri="{FF2B5EF4-FFF2-40B4-BE49-F238E27FC236}">
                <a16:creationId xmlns:a16="http://schemas.microsoft.com/office/drawing/2014/main" id="{686F5DDE-CE46-E6CC-CC0D-71D9C8CCF014}"/>
              </a:ext>
            </a:extLst>
          </p:cNvPr>
          <p:cNvSpPr txBox="1"/>
          <p:nvPr/>
        </p:nvSpPr>
        <p:spPr>
          <a:xfrm>
            <a:off x="10771293" y="5289973"/>
            <a:ext cx="542239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Roboto Mono"/>
                <a:ea typeface="Roboto Mono"/>
                <a:cs typeface="Calibri"/>
              </a:rPr>
              <a:t>MATCH</a:t>
            </a:r>
            <a:r>
              <a:rPr lang="en-US" dirty="0">
                <a:latin typeface="Roboto Mono"/>
                <a:ea typeface="Roboto Mono"/>
                <a:cs typeface="Calibri"/>
              </a:rPr>
              <a:t> (</a:t>
            </a:r>
            <a:r>
              <a:rPr lang="en-US" dirty="0" err="1">
                <a:solidFill>
                  <a:srgbClr val="7030A0"/>
                </a:solidFill>
                <a:latin typeface="Roboto Mono"/>
                <a:ea typeface="Roboto Mono"/>
                <a:cs typeface="Calibri"/>
              </a:rPr>
              <a:t>x</a:t>
            </a:r>
            <a:r>
              <a:rPr lang="en-US" dirty="0" err="1">
                <a:latin typeface="Roboto Mono"/>
                <a:ea typeface="Roboto Mono"/>
                <a:cs typeface="Calibri"/>
              </a:rPr>
              <a:t>:</a:t>
            </a:r>
            <a:r>
              <a:rPr lang="en-US" dirty="0" err="1">
                <a:solidFill>
                  <a:srgbClr val="00B050"/>
                </a:solidFill>
                <a:latin typeface="Roboto Mono"/>
                <a:ea typeface="Roboto Mono"/>
                <a:cs typeface="Calibri"/>
              </a:rPr>
              <a:t>AS</a:t>
            </a:r>
            <a:r>
              <a:rPr lang="en-US" dirty="0">
                <a:latin typeface="Roboto Mono"/>
                <a:ea typeface="Roboto Mono"/>
                <a:cs typeface="Calibri"/>
              </a:rPr>
              <a:t>)-[:</a:t>
            </a:r>
            <a:r>
              <a:rPr lang="en-US" dirty="0">
                <a:solidFill>
                  <a:srgbClr val="00B0F0"/>
                </a:solidFill>
                <a:latin typeface="Roboto Mono"/>
                <a:ea typeface="Roboto Mono"/>
                <a:cs typeface="Calibri"/>
              </a:rPr>
              <a:t>ORIGINATE</a:t>
            </a:r>
            <a:r>
              <a:rPr lang="en-US" dirty="0">
                <a:latin typeface="Roboto Mono"/>
                <a:ea typeface="Roboto Mono"/>
                <a:cs typeface="Calibri"/>
              </a:rPr>
              <a:t>]-(</a:t>
            </a:r>
            <a:r>
              <a:rPr lang="en-US" dirty="0" err="1">
                <a:solidFill>
                  <a:srgbClr val="7030A0"/>
                </a:solidFill>
                <a:latin typeface="Roboto Mono"/>
                <a:ea typeface="Roboto Mono"/>
                <a:cs typeface="Calibri"/>
              </a:rPr>
              <a:t>p</a:t>
            </a:r>
            <a:r>
              <a:rPr lang="en-US" dirty="0" err="1">
                <a:latin typeface="Roboto Mono"/>
                <a:ea typeface="Roboto Mono"/>
                <a:cs typeface="Calibri"/>
              </a:rPr>
              <a:t>:</a:t>
            </a:r>
            <a:r>
              <a:rPr lang="en-US" dirty="0" err="1">
                <a:solidFill>
                  <a:srgbClr val="00B050"/>
                </a:solidFill>
                <a:latin typeface="Roboto Mono"/>
                <a:ea typeface="Roboto Mono"/>
                <a:cs typeface="Calibri"/>
              </a:rPr>
              <a:t>Prefix</a:t>
            </a:r>
            <a:r>
              <a:rPr lang="en-US" dirty="0">
                <a:latin typeface="Roboto Mono"/>
                <a:ea typeface="Roboto Mono"/>
                <a:cs typeface="Calibri"/>
              </a:rPr>
              <a:t>)</a:t>
            </a:r>
          </a:p>
          <a:p>
            <a:r>
              <a:rPr lang="en-US" dirty="0">
                <a:solidFill>
                  <a:srgbClr val="FF0000"/>
                </a:solidFill>
                <a:latin typeface="Roboto Mono"/>
                <a:ea typeface="Roboto Mono"/>
                <a:cs typeface="Calibri"/>
              </a:rPr>
              <a:t>WHERE</a:t>
            </a:r>
            <a:r>
              <a:rPr lang="en-US" dirty="0">
                <a:latin typeface="Roboto Mono"/>
                <a:ea typeface="Roboto Mono"/>
                <a:cs typeface="Calibri"/>
              </a:rPr>
              <a:t> </a:t>
            </a:r>
            <a:r>
              <a:rPr lang="en-US" dirty="0" err="1">
                <a:solidFill>
                  <a:srgbClr val="7030A0"/>
                </a:solidFill>
                <a:latin typeface="Roboto Mono"/>
                <a:ea typeface="Roboto Mono"/>
                <a:cs typeface="Calibri"/>
              </a:rPr>
              <a:t>x.asn</a:t>
            </a:r>
            <a:r>
              <a:rPr lang="en-US" dirty="0">
                <a:latin typeface="Roboto Mono"/>
                <a:ea typeface="Roboto Mono"/>
                <a:cs typeface="Calibri"/>
              </a:rPr>
              <a:t> = 2497</a:t>
            </a:r>
          </a:p>
          <a:p>
            <a:r>
              <a:rPr lang="en-US" dirty="0">
                <a:solidFill>
                  <a:srgbClr val="FF0000"/>
                </a:solidFill>
                <a:latin typeface="Roboto Mono"/>
                <a:ea typeface="Roboto Mono"/>
                <a:cs typeface="Calibri"/>
              </a:rPr>
              <a:t>RETURN</a:t>
            </a:r>
            <a:r>
              <a:rPr lang="en-US" dirty="0">
                <a:latin typeface="Roboto Mono"/>
                <a:ea typeface="Roboto Mono"/>
                <a:cs typeface="Calibri"/>
              </a:rPr>
              <a:t> </a:t>
            </a:r>
            <a:r>
              <a:rPr lang="en-US">
                <a:solidFill>
                  <a:srgbClr val="7030A0"/>
                </a:solidFill>
                <a:latin typeface="Roboto Mono"/>
                <a:ea typeface="Roboto Mono"/>
                <a:cs typeface="Calibri"/>
              </a:rPr>
              <a:t>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B319318D-26D7-320B-4827-E5A6A71C2ADE}"/>
              </a:ext>
            </a:extLst>
          </p:cNvPr>
          <p:cNvCxnSpPr/>
          <p:nvPr/>
        </p:nvCxnSpPr>
        <p:spPr>
          <a:xfrm>
            <a:off x="11532577" y="4883376"/>
            <a:ext cx="4662150" cy="1"/>
          </a:xfrm>
          <a:prstGeom prst="straightConnector1">
            <a:avLst/>
          </a:prstGeom>
          <a:ln w="28575">
            <a:solidFill>
              <a:srgbClr val="4472C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3"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44"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CYPHER · A REAL QUERY</a:t>
            </a:r>
            <a:endParaRPr lang="en-US" sz="1950" b="0" u="none" strike="noStrike">
              <a:solidFill>
                <a:srgbClr val="000000"/>
              </a:solidFill>
              <a:effectLst/>
              <a:uFillTx/>
              <a:latin typeface="Arial"/>
            </a:endParaRPr>
          </a:p>
        </p:txBody>
      </p:sp>
      <p:sp>
        <p:nvSpPr>
          <p:cNvPr id="245"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Multiple origin AS prefixes, in three lines</a:t>
            </a:r>
            <a:endParaRPr lang="en-US" sz="4650" b="0" u="none" strike="noStrike">
              <a:solidFill>
                <a:srgbClr val="000000"/>
              </a:solidFill>
              <a:effectLst/>
              <a:uFillTx/>
              <a:latin typeface="Arial"/>
            </a:endParaRPr>
          </a:p>
        </p:txBody>
      </p:sp>
      <p:sp>
        <p:nvSpPr>
          <p:cNvPr id="246"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2740" indent="-332740" defTabSz="914400">
              <a:lnSpc>
                <a:spcPct val="140000"/>
              </a:lnSpc>
              <a:buClr>
                <a:srgbClr val="2B5187"/>
              </a:buClr>
              <a:buFont typeface="Arial"/>
              <a:buChar char="▪"/>
            </a:pPr>
            <a:r>
              <a:rPr lang="en-US" sz="3000" b="0" u="none" strike="noStrike">
                <a:solidFill>
                  <a:srgbClr val="343A40"/>
                </a:solidFill>
                <a:effectLst/>
                <a:uFillTx/>
                <a:latin typeface="Arial"/>
                <a:ea typeface="Arial"/>
              </a:rPr>
              <a:t>Match a prefix connected by ORIGINATE to two different AS nodes.</a:t>
            </a:r>
            <a:endParaRPr lang="en-US" sz="3000" b="0" u="none" strike="noStrike">
              <a:solidFill>
                <a:srgbClr val="000000"/>
              </a:solidFill>
              <a:effectLst/>
              <a:uFillTx/>
              <a:latin typeface="Arial"/>
              <a:cs typeface="Arial"/>
            </a:endParaRPr>
          </a:p>
          <a:p>
            <a:pPr marL="332740" indent="-332740" defTabSz="914400">
              <a:lnSpc>
                <a:spcPct val="140000"/>
              </a:lnSpc>
              <a:spcBef>
                <a:spcPts val="799"/>
              </a:spcBef>
              <a:buClr>
                <a:srgbClr val="2B5187"/>
              </a:buClr>
              <a:buFont typeface="Arial"/>
              <a:buChar char="▪"/>
            </a:pPr>
            <a:r>
              <a:rPr lang="en-US" sz="3000" b="0" u="none" strike="noStrike" dirty="0">
                <a:solidFill>
                  <a:srgbClr val="343A40"/>
                </a:solidFill>
                <a:effectLst/>
                <a:uFillTx/>
                <a:latin typeface="Arial"/>
                <a:ea typeface="Arial"/>
              </a:rPr>
              <a:t>Constrain the two ASNs to differ, and return the prefix.</a:t>
            </a:r>
            <a:endParaRPr lang="en-US" sz="3000" b="0" u="none" strike="noStrike" dirty="0">
              <a:solidFill>
                <a:srgbClr val="000000"/>
              </a:solidFill>
              <a:effectLst/>
              <a:uFillTx/>
              <a:latin typeface="Arial"/>
              <a:cs typeface="Arial"/>
            </a:endParaRPr>
          </a:p>
          <a:p>
            <a:pPr marL="332740" indent="-332740">
              <a:lnSpc>
                <a:spcPct val="140000"/>
              </a:lnSpc>
              <a:spcBef>
                <a:spcPts val="799"/>
              </a:spcBef>
              <a:buClr>
                <a:srgbClr val="2B5187"/>
              </a:buClr>
              <a:buFont typeface="Arial"/>
              <a:buChar char="▪"/>
            </a:pPr>
            <a:r>
              <a:rPr lang="en-US" sz="3000">
                <a:solidFill>
                  <a:srgbClr val="343A40"/>
                </a:solidFill>
                <a:latin typeface="Arial"/>
              </a:rPr>
              <a:t>Shape reflects intent.</a:t>
            </a:r>
            <a:endParaRPr lang="en-US" sz="3000" b="0" u="none" strike="noStrike">
              <a:solidFill>
                <a:srgbClr val="000000"/>
              </a:solidFill>
              <a:effectLst/>
              <a:uFillTx/>
              <a:latin typeface="Arial"/>
              <a:cs typeface="Arial"/>
            </a:endParaRPr>
          </a:p>
        </p:txBody>
      </p:sp>
      <p:sp>
        <p:nvSpPr>
          <p:cNvPr id="247"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Two ASes originating the same prefix</a:t>
            </a:r>
            <a:endParaRPr lang="en-US" sz="2400" b="0" u="none" strike="noStrike">
              <a:solidFill>
                <a:srgbClr val="000000"/>
              </a:solidFill>
              <a:effectLst/>
              <a:uFillTx/>
              <a:latin typeface="Arial"/>
            </a:endParaRPr>
          </a:p>
        </p:txBody>
      </p:sp>
      <p:sp>
        <p:nvSpPr>
          <p:cNvPr id="248"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
        <p:nvSpPr>
          <p:cNvPr id="4" name="Rectangle: Rounded Corners 3">
            <a:extLst>
              <a:ext uri="{FF2B5EF4-FFF2-40B4-BE49-F238E27FC236}">
                <a16:creationId xmlns:a16="http://schemas.microsoft.com/office/drawing/2014/main" id="{71FBDD73-BF05-9B76-FFAC-839205BE90E9}"/>
              </a:ext>
            </a:extLst>
          </p:cNvPr>
          <p:cNvSpPr/>
          <p:nvPr/>
        </p:nvSpPr>
        <p:spPr>
          <a:xfrm>
            <a:off x="10777407" y="4668492"/>
            <a:ext cx="767132" cy="425917"/>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AS</a:t>
            </a:r>
            <a:endParaRPr lang="en-US"/>
          </a:p>
        </p:txBody>
      </p:sp>
      <p:sp>
        <p:nvSpPr>
          <p:cNvPr id="5" name="Rectangle: Rounded Corners 4">
            <a:extLst>
              <a:ext uri="{FF2B5EF4-FFF2-40B4-BE49-F238E27FC236}">
                <a16:creationId xmlns:a16="http://schemas.microsoft.com/office/drawing/2014/main" id="{EF763FF1-6F89-86CC-D6E5-D10E6FD97E59}"/>
              </a:ext>
            </a:extLst>
          </p:cNvPr>
          <p:cNvSpPr/>
          <p:nvPr/>
        </p:nvSpPr>
        <p:spPr>
          <a:xfrm>
            <a:off x="15898047" y="4668492"/>
            <a:ext cx="767132" cy="425917"/>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AS</a:t>
            </a:r>
            <a:endParaRPr lang="en-US"/>
          </a:p>
        </p:txBody>
      </p:sp>
      <p:sp>
        <p:nvSpPr>
          <p:cNvPr id="6" name="Rectangle: Rounded Corners 5">
            <a:extLst>
              <a:ext uri="{FF2B5EF4-FFF2-40B4-BE49-F238E27FC236}">
                <a16:creationId xmlns:a16="http://schemas.microsoft.com/office/drawing/2014/main" id="{FA616588-4847-6614-565B-060E8FE7EF24}"/>
              </a:ext>
            </a:extLst>
          </p:cNvPr>
          <p:cNvSpPr/>
          <p:nvPr/>
        </p:nvSpPr>
        <p:spPr>
          <a:xfrm>
            <a:off x="13195995" y="4663920"/>
            <a:ext cx="1050596" cy="435061"/>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Prefix</a:t>
            </a:r>
          </a:p>
        </p:txBody>
      </p:sp>
      <p:sp>
        <p:nvSpPr>
          <p:cNvPr id="11" name="TextBox 10">
            <a:extLst>
              <a:ext uri="{FF2B5EF4-FFF2-40B4-BE49-F238E27FC236}">
                <a16:creationId xmlns:a16="http://schemas.microsoft.com/office/drawing/2014/main" id="{8B40F632-0D7A-4351-174A-235F7CD1C387}"/>
              </a:ext>
            </a:extLst>
          </p:cNvPr>
          <p:cNvSpPr txBox="1"/>
          <p:nvPr/>
        </p:nvSpPr>
        <p:spPr>
          <a:xfrm>
            <a:off x="11739813" y="4520655"/>
            <a:ext cx="126187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ORIGINATE</a:t>
            </a:r>
            <a:endParaRPr lang="en-US"/>
          </a:p>
        </p:txBody>
      </p:sp>
      <p:sp>
        <p:nvSpPr>
          <p:cNvPr id="13" name="TextBox 12">
            <a:extLst>
              <a:ext uri="{FF2B5EF4-FFF2-40B4-BE49-F238E27FC236}">
                <a16:creationId xmlns:a16="http://schemas.microsoft.com/office/drawing/2014/main" id="{1D9D2705-DAE3-BE4B-646D-295744A6D0DC}"/>
              </a:ext>
            </a:extLst>
          </p:cNvPr>
          <p:cNvSpPr txBox="1"/>
          <p:nvPr/>
        </p:nvSpPr>
        <p:spPr>
          <a:xfrm>
            <a:off x="14441865" y="4520654"/>
            <a:ext cx="126187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ORIGINATE</a:t>
            </a:r>
            <a:endParaRPr lang="en-US"/>
          </a:p>
        </p:txBody>
      </p:sp>
      <p:sp>
        <p:nvSpPr>
          <p:cNvPr id="14" name="TextBox 10">
            <a:extLst>
              <a:ext uri="{FF2B5EF4-FFF2-40B4-BE49-F238E27FC236}">
                <a16:creationId xmlns:a16="http://schemas.microsoft.com/office/drawing/2014/main" id="{8B40F632-0D7A-4351-174A-235F7CD1C387}"/>
              </a:ext>
            </a:extLst>
          </p:cNvPr>
          <p:cNvSpPr txBox="1"/>
          <p:nvPr/>
        </p:nvSpPr>
        <p:spPr>
          <a:xfrm>
            <a:off x="10783663" y="4292055"/>
            <a:ext cx="76809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ea typeface="Calibri"/>
                <a:cs typeface="Calibri"/>
              </a:rPr>
              <a:t>x</a:t>
            </a:r>
            <a:endParaRPr lang="en-US"/>
          </a:p>
        </p:txBody>
      </p:sp>
      <p:sp>
        <p:nvSpPr>
          <p:cNvPr id="15" name="TextBox 10">
            <a:extLst>
              <a:ext uri="{FF2B5EF4-FFF2-40B4-BE49-F238E27FC236}">
                <a16:creationId xmlns:a16="http://schemas.microsoft.com/office/drawing/2014/main" id="{BF99CE7F-CD84-51A5-DDC9-FD24558A1EC8}"/>
              </a:ext>
            </a:extLst>
          </p:cNvPr>
          <p:cNvSpPr txBox="1"/>
          <p:nvPr/>
        </p:nvSpPr>
        <p:spPr>
          <a:xfrm>
            <a:off x="15904303" y="4292054"/>
            <a:ext cx="768096"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ea typeface="Calibri"/>
                <a:cs typeface="Calibri"/>
              </a:rPr>
              <a:t>y</a:t>
            </a:r>
            <a:endParaRPr lang="en-US" dirty="0">
              <a:ea typeface="Calibri"/>
              <a:cs typeface="Calibri"/>
            </a:endParaRPr>
          </a:p>
        </p:txBody>
      </p:sp>
      <p:sp>
        <p:nvSpPr>
          <p:cNvPr id="17" name="TextBox 16">
            <a:extLst>
              <a:ext uri="{FF2B5EF4-FFF2-40B4-BE49-F238E27FC236}">
                <a16:creationId xmlns:a16="http://schemas.microsoft.com/office/drawing/2014/main" id="{594D4D66-4654-9E7A-3A76-99F593F1C641}"/>
              </a:ext>
            </a:extLst>
          </p:cNvPr>
          <p:cNvSpPr txBox="1"/>
          <p:nvPr/>
        </p:nvSpPr>
        <p:spPr>
          <a:xfrm>
            <a:off x="10780437" y="5564293"/>
            <a:ext cx="64922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Roboto Mono"/>
                <a:ea typeface="Roboto Mono"/>
                <a:cs typeface="Calibri"/>
              </a:rPr>
              <a:t>MATCH</a:t>
            </a:r>
            <a:r>
              <a:rPr lang="en-US" dirty="0">
                <a:latin typeface="Roboto Mono"/>
                <a:ea typeface="Roboto Mono"/>
                <a:cs typeface="Calibri"/>
              </a:rPr>
              <a:t> (</a:t>
            </a:r>
            <a:r>
              <a:rPr lang="en-US" dirty="0" err="1">
                <a:solidFill>
                  <a:srgbClr val="7030A0"/>
                </a:solidFill>
                <a:latin typeface="Roboto Mono"/>
                <a:ea typeface="Roboto Mono"/>
                <a:cs typeface="Calibri"/>
              </a:rPr>
              <a:t>x</a:t>
            </a:r>
            <a:r>
              <a:rPr lang="en-US" dirty="0" err="1">
                <a:latin typeface="Roboto Mono"/>
                <a:ea typeface="Roboto Mono"/>
                <a:cs typeface="Calibri"/>
              </a:rPr>
              <a:t>:</a:t>
            </a:r>
            <a:r>
              <a:rPr lang="en-US" dirty="0" err="1">
                <a:solidFill>
                  <a:srgbClr val="00B050"/>
                </a:solidFill>
                <a:latin typeface="Roboto Mono"/>
                <a:ea typeface="Roboto Mono"/>
                <a:cs typeface="Calibri"/>
              </a:rPr>
              <a:t>AS</a:t>
            </a:r>
            <a:r>
              <a:rPr lang="en-US" dirty="0">
                <a:latin typeface="Roboto Mono"/>
                <a:ea typeface="Roboto Mono"/>
                <a:cs typeface="Calibri"/>
              </a:rPr>
              <a:t>)-[:</a:t>
            </a:r>
            <a:r>
              <a:rPr lang="en-US" dirty="0">
                <a:solidFill>
                  <a:srgbClr val="00B0F0"/>
                </a:solidFill>
                <a:latin typeface="Roboto Mono"/>
                <a:ea typeface="Roboto Mono"/>
                <a:cs typeface="Calibri"/>
              </a:rPr>
              <a:t>ORIGINATE</a:t>
            </a:r>
            <a:r>
              <a:rPr lang="en-US" dirty="0">
                <a:latin typeface="Roboto Mono"/>
                <a:ea typeface="Roboto Mono"/>
                <a:cs typeface="Calibri"/>
              </a:rPr>
              <a:t>]-(</a:t>
            </a:r>
            <a:r>
              <a:rPr lang="en-US" dirty="0" err="1">
                <a:latin typeface="Roboto Mono"/>
                <a:ea typeface="Roboto Mono"/>
                <a:cs typeface="Calibri"/>
              </a:rPr>
              <a:t>p:</a:t>
            </a:r>
            <a:r>
              <a:rPr lang="en-US" dirty="0" err="1">
                <a:solidFill>
                  <a:srgbClr val="00B050"/>
                </a:solidFill>
                <a:latin typeface="Roboto Mono"/>
                <a:ea typeface="Roboto Mono"/>
                <a:cs typeface="Calibri"/>
              </a:rPr>
              <a:t>Prefix</a:t>
            </a:r>
            <a:r>
              <a:rPr lang="en-US" dirty="0">
                <a:latin typeface="Roboto Mono"/>
                <a:ea typeface="Roboto Mono"/>
                <a:cs typeface="Calibri"/>
              </a:rPr>
              <a:t>)</a:t>
            </a:r>
            <a:r>
              <a:rPr lang="en-US" dirty="0">
                <a:ea typeface="+mn-lt"/>
                <a:cs typeface="+mn-lt"/>
              </a:rPr>
              <a:t>↵</a:t>
            </a:r>
            <a:endParaRPr lang="en-US" dirty="0">
              <a:latin typeface="Calibri" panose="020F0502020204030204"/>
              <a:ea typeface="Calibri" panose="020F0502020204030204"/>
              <a:cs typeface="Calibri"/>
            </a:endParaRPr>
          </a:p>
          <a:p>
            <a:r>
              <a:rPr lang="en-US" dirty="0">
                <a:latin typeface="Roboto Mono"/>
                <a:ea typeface="Roboto Mono"/>
                <a:cs typeface="Calibri"/>
              </a:rPr>
              <a:t>      -[:</a:t>
            </a:r>
            <a:r>
              <a:rPr lang="en-US" dirty="0">
                <a:solidFill>
                  <a:srgbClr val="00B0F0"/>
                </a:solidFill>
                <a:latin typeface="Roboto Mono"/>
                <a:ea typeface="Roboto Mono"/>
                <a:cs typeface="Calibri"/>
              </a:rPr>
              <a:t>ORIGINATE</a:t>
            </a:r>
            <a:r>
              <a:rPr lang="en-US" dirty="0">
                <a:latin typeface="Roboto Mono"/>
                <a:ea typeface="Roboto Mono"/>
                <a:cs typeface="Calibri"/>
              </a:rPr>
              <a:t>]-(</a:t>
            </a:r>
            <a:r>
              <a:rPr lang="en-US" dirty="0" err="1">
                <a:solidFill>
                  <a:srgbClr val="7030A0"/>
                </a:solidFill>
                <a:latin typeface="Roboto Mono"/>
                <a:ea typeface="Roboto Mono"/>
                <a:cs typeface="Calibri"/>
              </a:rPr>
              <a:t>y</a:t>
            </a:r>
            <a:r>
              <a:rPr lang="en-US" dirty="0" err="1">
                <a:latin typeface="Roboto Mono"/>
                <a:ea typeface="Roboto Mono"/>
                <a:cs typeface="Calibri"/>
              </a:rPr>
              <a:t>:</a:t>
            </a:r>
            <a:r>
              <a:rPr lang="en-US" dirty="0" err="1">
                <a:solidFill>
                  <a:srgbClr val="00B050"/>
                </a:solidFill>
                <a:latin typeface="Roboto Mono"/>
                <a:ea typeface="Roboto Mono"/>
                <a:cs typeface="Calibri"/>
              </a:rPr>
              <a:t>AS</a:t>
            </a:r>
            <a:r>
              <a:rPr lang="en-US" dirty="0">
                <a:latin typeface="Roboto Mono"/>
                <a:ea typeface="Roboto Mono"/>
                <a:cs typeface="Calibri"/>
              </a:rPr>
              <a:t>)</a:t>
            </a:r>
            <a:endParaRPr lang="en-US" dirty="0"/>
          </a:p>
          <a:p>
            <a:r>
              <a:rPr lang="en-US" dirty="0">
                <a:solidFill>
                  <a:srgbClr val="FF0000"/>
                </a:solidFill>
                <a:latin typeface="Roboto Mono"/>
                <a:ea typeface="Roboto Mono"/>
                <a:cs typeface="Calibri"/>
              </a:rPr>
              <a:t>WHERE</a:t>
            </a:r>
            <a:r>
              <a:rPr lang="en-US" dirty="0">
                <a:latin typeface="Roboto Mono"/>
                <a:ea typeface="Roboto Mono"/>
                <a:cs typeface="Calibri"/>
              </a:rPr>
              <a:t> </a:t>
            </a:r>
            <a:r>
              <a:rPr lang="en-US" dirty="0" err="1">
                <a:solidFill>
                  <a:srgbClr val="7030A0"/>
                </a:solidFill>
                <a:latin typeface="Roboto Mono"/>
                <a:ea typeface="Roboto Mono"/>
                <a:cs typeface="Calibri"/>
              </a:rPr>
              <a:t>x.asn</a:t>
            </a:r>
            <a:r>
              <a:rPr lang="en-US" dirty="0">
                <a:latin typeface="Roboto Mono"/>
                <a:ea typeface="Roboto Mono"/>
                <a:cs typeface="Calibri"/>
              </a:rPr>
              <a:t> &lt;&gt; </a:t>
            </a:r>
            <a:r>
              <a:rPr lang="en-US" dirty="0" err="1">
                <a:solidFill>
                  <a:srgbClr val="7030A0"/>
                </a:solidFill>
                <a:latin typeface="Roboto Mono"/>
                <a:ea typeface="Roboto Mono"/>
                <a:cs typeface="Calibri"/>
              </a:rPr>
              <a:t>y.asn</a:t>
            </a:r>
            <a:endParaRPr lang="en-US">
              <a:solidFill>
                <a:srgbClr val="7030A0"/>
              </a:solidFill>
              <a:latin typeface="Roboto Mono"/>
              <a:ea typeface="Roboto Mono"/>
              <a:cs typeface="Calibri"/>
            </a:endParaRPr>
          </a:p>
          <a:p>
            <a:r>
              <a:rPr lang="en-US" dirty="0">
                <a:solidFill>
                  <a:srgbClr val="FF0000"/>
                </a:solidFill>
                <a:latin typeface="Roboto Mono"/>
                <a:ea typeface="Roboto Mono"/>
                <a:cs typeface="Calibri"/>
              </a:rPr>
              <a:t>RETURN</a:t>
            </a:r>
            <a:r>
              <a:rPr lang="en-US" dirty="0">
                <a:latin typeface="Roboto Mono"/>
                <a:ea typeface="Roboto Mono"/>
                <a:cs typeface="Calibri"/>
              </a:rPr>
              <a:t> </a:t>
            </a:r>
            <a:r>
              <a:rPr lang="en-US">
                <a:solidFill>
                  <a:srgbClr val="7030A0"/>
                </a:solidFill>
                <a:latin typeface="Roboto Mono"/>
                <a:ea typeface="Roboto Mono"/>
                <a:cs typeface="Calibri"/>
              </a:rPr>
              <a:t>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E8C32BC-A56D-B4BE-6228-FFE0448E2545}"/>
              </a:ext>
            </a:extLst>
          </p:cNvPr>
          <p:cNvCxnSpPr/>
          <p:nvPr/>
        </p:nvCxnSpPr>
        <p:spPr>
          <a:xfrm>
            <a:off x="11441137" y="4981673"/>
            <a:ext cx="4662150" cy="1"/>
          </a:xfrm>
          <a:prstGeom prst="straightConnector1">
            <a:avLst/>
          </a:prstGeom>
          <a:ln w="28575">
            <a:solidFill>
              <a:srgbClr val="4472C4"/>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0"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51"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CYPHER · MULTI-HOP</a:t>
            </a:r>
            <a:endParaRPr lang="en-US" sz="1950" b="0" u="none" strike="noStrike">
              <a:solidFill>
                <a:srgbClr val="000000"/>
              </a:solidFill>
              <a:effectLst/>
              <a:uFillTx/>
              <a:latin typeface="Arial"/>
            </a:endParaRPr>
          </a:p>
        </p:txBody>
      </p:sp>
      <p:sp>
        <p:nvSpPr>
          <p:cNvPr id="252"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Chain relationship types and cross datasets in one pattern</a:t>
            </a:r>
            <a:endParaRPr lang="en-US" sz="4650" b="0" u="none" strike="noStrike">
              <a:solidFill>
                <a:srgbClr val="000000"/>
              </a:solidFill>
              <a:effectLst/>
              <a:uFillTx/>
              <a:latin typeface="Arial"/>
            </a:endParaRPr>
          </a:p>
        </p:txBody>
      </p:sp>
      <p:sp>
        <p:nvSpPr>
          <p:cNvPr id="253" name="Text 4"/>
          <p:cNvSpPr/>
          <p:nvPr/>
        </p:nvSpPr>
        <p:spPr>
          <a:xfrm>
            <a:off x="1238400" y="4460760"/>
            <a:ext cx="8721360" cy="406073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2740" indent="-332740" defTabSz="914400">
              <a:lnSpc>
                <a:spcPct val="140000"/>
              </a:lnSpc>
              <a:buClr>
                <a:srgbClr val="2B5187"/>
              </a:buClr>
              <a:buFont typeface="Arial"/>
              <a:buChar char="▪"/>
            </a:pPr>
            <a:r>
              <a:rPr lang="en-US" sz="3000" b="0" u="none" strike="noStrike">
                <a:solidFill>
                  <a:srgbClr val="343A40"/>
                </a:solidFill>
                <a:effectLst/>
                <a:uFillTx/>
                <a:latin typeface="Arial"/>
                <a:ea typeface="Arial"/>
              </a:rPr>
              <a:t>AS to announced prefix, prefix to IP, IP to hostname. One MATCH.</a:t>
            </a:r>
            <a:endParaRPr lang="en-US" sz="3000" b="0" u="none" strike="noStrike">
              <a:solidFill>
                <a:srgbClr val="000000"/>
              </a:solidFill>
              <a:effectLst/>
              <a:uFillTx/>
              <a:latin typeface="Arial"/>
              <a:cs typeface="Arial"/>
            </a:endParaRPr>
          </a:p>
          <a:p>
            <a:pPr marL="332740" indent="-332740">
              <a:lnSpc>
                <a:spcPct val="140000"/>
              </a:lnSpc>
              <a:spcBef>
                <a:spcPts val="799"/>
              </a:spcBef>
              <a:buClr>
                <a:srgbClr val="2B5187"/>
              </a:buClr>
              <a:buFont typeface="Arial"/>
              <a:buChar char="▪"/>
            </a:pPr>
            <a:r>
              <a:rPr lang="en-US" sz="3000">
                <a:solidFill>
                  <a:srgbClr val="343A40"/>
                </a:solidFill>
                <a:latin typeface="Arial"/>
                <a:ea typeface="Arial"/>
              </a:rPr>
              <a:t>From</a:t>
            </a:r>
            <a:r>
              <a:rPr lang="en-US" sz="3000" b="0" u="none" strike="noStrike">
                <a:solidFill>
                  <a:srgbClr val="343A40"/>
                </a:solidFill>
                <a:effectLst/>
                <a:uFillTx/>
                <a:latin typeface="Arial"/>
                <a:ea typeface="Arial"/>
              </a:rPr>
              <a:t> left to right</a:t>
            </a:r>
            <a:r>
              <a:rPr lang="en-US" sz="3000">
                <a:solidFill>
                  <a:srgbClr val="343A40"/>
                </a:solidFill>
                <a:latin typeface="Arial"/>
                <a:ea typeface="Arial"/>
              </a:rPr>
              <a:t>:</a:t>
            </a:r>
            <a:r>
              <a:rPr lang="en-US" sz="3000" b="0" u="none" strike="noStrike">
                <a:solidFill>
                  <a:srgbClr val="343A40"/>
                </a:solidFill>
                <a:effectLst/>
                <a:uFillTx/>
                <a:latin typeface="Arial"/>
                <a:ea typeface="Arial"/>
              </a:rPr>
              <a:t> Each </a:t>
            </a:r>
            <a:r>
              <a:rPr lang="en-US" sz="3000">
                <a:solidFill>
                  <a:srgbClr val="343A40"/>
                </a:solidFill>
                <a:latin typeface="Arial"/>
                <a:ea typeface="Arial"/>
              </a:rPr>
              <a:t>hop is</a:t>
            </a:r>
            <a:r>
              <a:rPr lang="en-US" sz="3000" b="0" u="none" strike="noStrike">
                <a:solidFill>
                  <a:srgbClr val="343A40"/>
                </a:solidFill>
                <a:effectLst/>
                <a:uFillTx/>
                <a:latin typeface="Arial"/>
                <a:ea typeface="Arial"/>
              </a:rPr>
              <a:t> a different underlying dataset.</a:t>
            </a:r>
            <a:endParaRPr lang="en-US" sz="3000" b="0" u="none" strike="noStrike">
              <a:solidFill>
                <a:srgbClr val="000000"/>
              </a:solidFill>
              <a:effectLst/>
              <a:uFillTx/>
              <a:latin typeface="Arial"/>
              <a:cs typeface="Arial"/>
            </a:endParaRPr>
          </a:p>
          <a:p>
            <a:pPr marL="332740" indent="-33274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This is the technique that makes IYP different from a pile of files.</a:t>
            </a:r>
            <a:endParaRPr lang="en-US" sz="3000" b="0" u="none" strike="noStrike">
              <a:solidFill>
                <a:srgbClr val="000000"/>
              </a:solidFill>
              <a:effectLst/>
              <a:uFillTx/>
              <a:latin typeface="Arial"/>
              <a:cs typeface="Arial"/>
            </a:endParaRPr>
          </a:p>
        </p:txBody>
      </p:sp>
      <p:sp>
        <p:nvSpPr>
          <p:cNvPr id="254"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Four node types, three hops, three source datasets</a:t>
            </a:r>
            <a:endParaRPr lang="en-US" sz="2400" b="0" u="none" strike="noStrike">
              <a:solidFill>
                <a:srgbClr val="000000"/>
              </a:solidFill>
              <a:effectLst/>
              <a:uFillTx/>
              <a:latin typeface="Arial"/>
            </a:endParaRPr>
          </a:p>
        </p:txBody>
      </p:sp>
      <p:sp>
        <p:nvSpPr>
          <p:cNvPr id="255"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
        <p:nvSpPr>
          <p:cNvPr id="3" name="Rectangle: Rounded Corners 2">
            <a:extLst>
              <a:ext uri="{FF2B5EF4-FFF2-40B4-BE49-F238E27FC236}">
                <a16:creationId xmlns:a16="http://schemas.microsoft.com/office/drawing/2014/main" id="{FE2F0DBD-44D1-32FE-7273-D67909A89724}"/>
              </a:ext>
            </a:extLst>
          </p:cNvPr>
          <p:cNvSpPr/>
          <p:nvPr/>
        </p:nvSpPr>
        <p:spPr>
          <a:xfrm>
            <a:off x="10992291" y="4762217"/>
            <a:ext cx="556820" cy="435061"/>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AS</a:t>
            </a:r>
            <a:endParaRPr lang="en-US"/>
          </a:p>
        </p:txBody>
      </p:sp>
      <p:sp>
        <p:nvSpPr>
          <p:cNvPr id="4" name="Rectangle: Rounded Corners 3">
            <a:extLst>
              <a:ext uri="{FF2B5EF4-FFF2-40B4-BE49-F238E27FC236}">
                <a16:creationId xmlns:a16="http://schemas.microsoft.com/office/drawing/2014/main" id="{7B30BE8F-0AF6-B78D-FD94-1D815E58C2C2}"/>
              </a:ext>
            </a:extLst>
          </p:cNvPr>
          <p:cNvSpPr/>
          <p:nvPr/>
        </p:nvSpPr>
        <p:spPr>
          <a:xfrm>
            <a:off x="12059091" y="4762217"/>
            <a:ext cx="1315772" cy="444205"/>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err="1">
                <a:ea typeface="Calibri"/>
                <a:cs typeface="Calibri"/>
              </a:rPr>
              <a:t>BGPPrefix</a:t>
            </a:r>
            <a:endParaRPr lang="en-US" dirty="0" err="1"/>
          </a:p>
        </p:txBody>
      </p:sp>
      <p:sp>
        <p:nvSpPr>
          <p:cNvPr id="5" name="Rectangle: Rounded Corners 4">
            <a:extLst>
              <a:ext uri="{FF2B5EF4-FFF2-40B4-BE49-F238E27FC236}">
                <a16:creationId xmlns:a16="http://schemas.microsoft.com/office/drawing/2014/main" id="{BFBF3EFD-40B3-C5ED-96F7-4872C27853EF}"/>
              </a:ext>
            </a:extLst>
          </p:cNvPr>
          <p:cNvSpPr/>
          <p:nvPr/>
        </p:nvSpPr>
        <p:spPr>
          <a:xfrm>
            <a:off x="15344834" y="4762217"/>
            <a:ext cx="1361492" cy="435061"/>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err="1">
                <a:ea typeface="Calibri"/>
                <a:cs typeface="Calibri"/>
              </a:rPr>
              <a:t>HostName</a:t>
            </a:r>
            <a:endParaRPr lang="en-US" dirty="0" err="1"/>
          </a:p>
        </p:txBody>
      </p:sp>
      <p:sp>
        <p:nvSpPr>
          <p:cNvPr id="6" name="Rectangle: Rounded Corners 5">
            <a:extLst>
              <a:ext uri="{FF2B5EF4-FFF2-40B4-BE49-F238E27FC236}">
                <a16:creationId xmlns:a16="http://schemas.microsoft.com/office/drawing/2014/main" id="{3AD7A85A-FF8E-0110-D14D-89A9E35CABE6}"/>
              </a:ext>
            </a:extLst>
          </p:cNvPr>
          <p:cNvSpPr/>
          <p:nvPr/>
        </p:nvSpPr>
        <p:spPr>
          <a:xfrm>
            <a:off x="13957994" y="4762217"/>
            <a:ext cx="556820" cy="444205"/>
          </a:xfrm>
          <a:prstGeom prst="roundRect">
            <a:avLst/>
          </a:prstGeom>
          <a:solidFill>
            <a:srgbClr val="2B5187"/>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ea typeface="Calibri"/>
                <a:cs typeface="Calibri"/>
              </a:rPr>
              <a:t>IP</a:t>
            </a:r>
            <a:endParaRPr lang="en-US"/>
          </a:p>
        </p:txBody>
      </p:sp>
      <p:sp>
        <p:nvSpPr>
          <p:cNvPr id="9" name="TextBox 8">
            <a:extLst>
              <a:ext uri="{FF2B5EF4-FFF2-40B4-BE49-F238E27FC236}">
                <a16:creationId xmlns:a16="http://schemas.microsoft.com/office/drawing/2014/main" id="{3AE04A1D-E42D-0E7D-6337-205E930D8CBB}"/>
              </a:ext>
            </a:extLst>
          </p:cNvPr>
          <p:cNvSpPr txBox="1"/>
          <p:nvPr/>
        </p:nvSpPr>
        <p:spPr>
          <a:xfrm>
            <a:off x="11173647" y="4401783"/>
            <a:ext cx="1261872"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ORIGINATE</a:t>
            </a:r>
            <a:endParaRPr lang="en-US"/>
          </a:p>
        </p:txBody>
      </p:sp>
      <p:sp>
        <p:nvSpPr>
          <p:cNvPr id="10" name="TextBox 9">
            <a:extLst>
              <a:ext uri="{FF2B5EF4-FFF2-40B4-BE49-F238E27FC236}">
                <a16:creationId xmlns:a16="http://schemas.microsoft.com/office/drawing/2014/main" id="{D0969DBA-71F4-9CF8-56BB-E3F9D50A766E}"/>
              </a:ext>
            </a:extLst>
          </p:cNvPr>
          <p:cNvSpPr txBox="1"/>
          <p:nvPr/>
        </p:nvSpPr>
        <p:spPr>
          <a:xfrm>
            <a:off x="13127415" y="4383495"/>
            <a:ext cx="10789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PART_OF</a:t>
            </a:r>
            <a:endParaRPr lang="en-US"/>
          </a:p>
        </p:txBody>
      </p:sp>
      <p:sp>
        <p:nvSpPr>
          <p:cNvPr id="12" name="TextBox 8">
            <a:extLst>
              <a:ext uri="{FF2B5EF4-FFF2-40B4-BE49-F238E27FC236}">
                <a16:creationId xmlns:a16="http://schemas.microsoft.com/office/drawing/2014/main" id="{317D899B-B312-4D71-8280-11B04FC95EF4}"/>
              </a:ext>
            </a:extLst>
          </p:cNvPr>
          <p:cNvSpPr txBox="1"/>
          <p:nvPr/>
        </p:nvSpPr>
        <p:spPr>
          <a:xfrm>
            <a:off x="14171354" y="4383495"/>
            <a:ext cx="151790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ea typeface="Calibri"/>
                <a:cs typeface="Calibri"/>
              </a:rPr>
              <a:t>RESOLVES_TO</a:t>
            </a:r>
            <a:endParaRPr lang="en-US"/>
          </a:p>
        </p:txBody>
      </p:sp>
      <p:cxnSp>
        <p:nvCxnSpPr>
          <p:cNvPr id="16" name="Straight Arrow Connector 15">
            <a:extLst>
              <a:ext uri="{FF2B5EF4-FFF2-40B4-BE49-F238E27FC236}">
                <a16:creationId xmlns:a16="http://schemas.microsoft.com/office/drawing/2014/main" id="{160D192E-61A4-D783-3A55-32B25F3866E4}"/>
              </a:ext>
            </a:extLst>
          </p:cNvPr>
          <p:cNvCxnSpPr/>
          <p:nvPr/>
        </p:nvCxnSpPr>
        <p:spPr>
          <a:xfrm>
            <a:off x="11016761" y="5565531"/>
            <a:ext cx="5688623" cy="0"/>
          </a:xfrm>
          <a:prstGeom prst="straightConnector1">
            <a:avLst/>
          </a:prstGeom>
          <a:ln w="57150">
            <a:solidFill>
              <a:srgbClr val="4472C4"/>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2514D5-A87C-2D6B-8549-6A2599E6887B}"/>
              </a:ext>
            </a:extLst>
          </p:cNvPr>
          <p:cNvSpPr txBox="1"/>
          <p:nvPr/>
        </p:nvSpPr>
        <p:spPr>
          <a:xfrm>
            <a:off x="10990767" y="5782526"/>
            <a:ext cx="2002536" cy="33855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4472C4"/>
                </a:solidFill>
                <a:latin typeface="Arial"/>
                <a:ea typeface="Calibri"/>
                <a:cs typeface="Arial"/>
              </a:rPr>
              <a:t>announced space</a:t>
            </a:r>
            <a:endParaRPr lang="en-US" sz="1600">
              <a:latin typeface="Arial"/>
              <a:cs typeface="Arial"/>
            </a:endParaRPr>
          </a:p>
        </p:txBody>
      </p:sp>
      <p:sp>
        <p:nvSpPr>
          <p:cNvPr id="18" name="TextBox 17">
            <a:extLst>
              <a:ext uri="{FF2B5EF4-FFF2-40B4-BE49-F238E27FC236}">
                <a16:creationId xmlns:a16="http://schemas.microsoft.com/office/drawing/2014/main" id="{8C26B933-7C4E-6081-6EC9-65429F98C5E1}"/>
              </a:ext>
            </a:extLst>
          </p:cNvPr>
          <p:cNvSpPr txBox="1"/>
          <p:nvPr/>
        </p:nvSpPr>
        <p:spPr>
          <a:xfrm>
            <a:off x="14684943" y="5782525"/>
            <a:ext cx="2002536" cy="33855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600">
                <a:solidFill>
                  <a:srgbClr val="4472C4"/>
                </a:solidFill>
                <a:latin typeface="Arial"/>
                <a:ea typeface="Calibri"/>
                <a:cs typeface="Arial"/>
              </a:rPr>
              <a:t>what it hosts</a:t>
            </a:r>
            <a:endParaRPr lang="en-US"/>
          </a:p>
        </p:txBody>
      </p:sp>
      <p:sp>
        <p:nvSpPr>
          <p:cNvPr id="20" name="TextBox 19">
            <a:extLst>
              <a:ext uri="{FF2B5EF4-FFF2-40B4-BE49-F238E27FC236}">
                <a16:creationId xmlns:a16="http://schemas.microsoft.com/office/drawing/2014/main" id="{DD3565AF-CCC7-1E39-F058-A3411152B5CB}"/>
              </a:ext>
            </a:extLst>
          </p:cNvPr>
          <p:cNvSpPr txBox="1"/>
          <p:nvPr/>
        </p:nvSpPr>
        <p:spPr>
          <a:xfrm>
            <a:off x="10926741" y="6304957"/>
            <a:ext cx="649224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F0000"/>
                </a:solidFill>
                <a:latin typeface="Roboto Mono"/>
                <a:ea typeface="Roboto Mono"/>
                <a:cs typeface="Calibri"/>
              </a:rPr>
              <a:t>MATCH</a:t>
            </a:r>
            <a:r>
              <a:rPr lang="en-US" dirty="0">
                <a:latin typeface="Roboto Mono"/>
                <a:ea typeface="Roboto Mono"/>
                <a:cs typeface="Calibri"/>
              </a:rPr>
              <a:t> </a:t>
            </a:r>
            <a:r>
              <a:rPr lang="en-US" dirty="0">
                <a:solidFill>
                  <a:srgbClr val="7030A0"/>
                </a:solidFill>
                <a:latin typeface="Roboto Mono"/>
                <a:ea typeface="Roboto Mono"/>
                <a:cs typeface="Calibri"/>
              </a:rPr>
              <a:t>q</a:t>
            </a:r>
            <a:r>
              <a:rPr lang="en-US" dirty="0">
                <a:latin typeface="Roboto Mono"/>
                <a:ea typeface="Roboto Mono"/>
                <a:cs typeface="Calibri"/>
              </a:rPr>
              <a:t> = (:</a:t>
            </a:r>
            <a:r>
              <a:rPr lang="en-US" dirty="0">
                <a:solidFill>
                  <a:srgbClr val="00B050"/>
                </a:solidFill>
                <a:latin typeface="Roboto Mono"/>
                <a:ea typeface="Roboto Mono"/>
                <a:cs typeface="Calibri"/>
              </a:rPr>
              <a:t>AS</a:t>
            </a:r>
            <a:r>
              <a:rPr lang="en-US" dirty="0">
                <a:latin typeface="Roboto Mono"/>
                <a:ea typeface="Roboto Mono"/>
                <a:cs typeface="Calibri"/>
              </a:rPr>
              <a:t>)-[:</a:t>
            </a:r>
            <a:r>
              <a:rPr lang="en-US" dirty="0">
                <a:solidFill>
                  <a:srgbClr val="00B0F0"/>
                </a:solidFill>
                <a:latin typeface="Roboto Mono"/>
                <a:ea typeface="Roboto Mono"/>
                <a:cs typeface="Calibri"/>
              </a:rPr>
              <a:t>ORIGINATE</a:t>
            </a:r>
            <a:r>
              <a:rPr lang="en-US" dirty="0">
                <a:latin typeface="Roboto Mono"/>
                <a:ea typeface="Roboto Mono"/>
                <a:cs typeface="Calibri"/>
              </a:rPr>
              <a:t>]-&gt;(:</a:t>
            </a:r>
            <a:r>
              <a:rPr lang="en-US" dirty="0" err="1">
                <a:solidFill>
                  <a:srgbClr val="00B050"/>
                </a:solidFill>
                <a:latin typeface="Roboto Mono"/>
                <a:ea typeface="Roboto Mono"/>
                <a:cs typeface="Calibri"/>
              </a:rPr>
              <a:t>BGPPrefix</a:t>
            </a:r>
            <a:r>
              <a:rPr lang="en-US" dirty="0">
                <a:latin typeface="Roboto Mono"/>
                <a:ea typeface="Roboto Mono"/>
                <a:cs typeface="Calibri"/>
              </a:rPr>
              <a:t>)</a:t>
            </a:r>
            <a:r>
              <a:rPr lang="en-US" dirty="0">
                <a:latin typeface="Calibri"/>
                <a:ea typeface="Calibri"/>
                <a:cs typeface="Calibri"/>
              </a:rPr>
              <a:t>↵</a:t>
            </a:r>
            <a:endParaRPr lang="en-US" dirty="0">
              <a:latin typeface="Calibri"/>
              <a:ea typeface="Calibri"/>
            </a:endParaRPr>
          </a:p>
          <a:p>
            <a:r>
              <a:rPr lang="en-US">
                <a:latin typeface="Roboto Mono"/>
                <a:ea typeface="Roboto Mono"/>
                <a:cs typeface="Calibri"/>
              </a:rPr>
              <a:t>          &lt;-[:</a:t>
            </a:r>
            <a:r>
              <a:rPr lang="en-US">
                <a:solidFill>
                  <a:srgbClr val="00B0F0"/>
                </a:solidFill>
                <a:latin typeface="Roboto Mono"/>
                <a:ea typeface="Roboto Mono"/>
                <a:cs typeface="Calibri"/>
              </a:rPr>
              <a:t>PART_OF</a:t>
            </a:r>
            <a:r>
              <a:rPr lang="en-US">
                <a:latin typeface="Roboto Mono"/>
                <a:ea typeface="Roboto Mono"/>
                <a:cs typeface="Calibri"/>
              </a:rPr>
              <a:t>]-(:</a:t>
            </a:r>
            <a:r>
              <a:rPr lang="en-US">
                <a:solidFill>
                  <a:srgbClr val="00B050"/>
                </a:solidFill>
                <a:latin typeface="Roboto Mono"/>
                <a:ea typeface="Roboto Mono"/>
                <a:cs typeface="Calibri"/>
              </a:rPr>
              <a:t>IP</a:t>
            </a:r>
            <a:r>
              <a:rPr lang="en-US">
                <a:latin typeface="Roboto Mono"/>
                <a:ea typeface="Roboto Mono"/>
                <a:cs typeface="Calibri"/>
              </a:rPr>
              <a:t>)</a:t>
            </a:r>
            <a:r>
              <a:rPr lang="en-US">
                <a:latin typeface="Calibri"/>
                <a:ea typeface="Calibri"/>
                <a:cs typeface="Calibri"/>
              </a:rPr>
              <a:t>↵</a:t>
            </a:r>
            <a:endParaRPr lang="en-US" dirty="0">
              <a:latin typeface="Calibri"/>
              <a:ea typeface="Calibri"/>
              <a:cs typeface="Calibri"/>
            </a:endParaRPr>
          </a:p>
          <a:p>
            <a:r>
              <a:rPr lang="en-US" dirty="0">
                <a:latin typeface="Roboto Mono"/>
                <a:ea typeface="Roboto Mono"/>
                <a:cs typeface="Calibri"/>
              </a:rPr>
              <a:t>          &lt;-[:</a:t>
            </a:r>
            <a:r>
              <a:rPr lang="en-US" dirty="0">
                <a:solidFill>
                  <a:srgbClr val="00B0F0"/>
                </a:solidFill>
                <a:latin typeface="Roboto Mono"/>
                <a:ea typeface="Roboto Mono"/>
                <a:cs typeface="Calibri"/>
              </a:rPr>
              <a:t>RESOLVES_TO</a:t>
            </a:r>
            <a:r>
              <a:rPr lang="en-US" dirty="0">
                <a:latin typeface="Roboto Mono"/>
                <a:ea typeface="Roboto Mono"/>
                <a:cs typeface="Calibri"/>
              </a:rPr>
              <a:t>]-(:</a:t>
            </a:r>
            <a:r>
              <a:rPr lang="en-US" dirty="0" err="1">
                <a:solidFill>
                  <a:srgbClr val="00B050"/>
                </a:solidFill>
                <a:latin typeface="Roboto Mono"/>
                <a:ea typeface="Roboto Mono"/>
                <a:cs typeface="Calibri"/>
              </a:rPr>
              <a:t>HostName</a:t>
            </a:r>
            <a:r>
              <a:rPr lang="en-US" dirty="0">
                <a:latin typeface="Roboto Mono"/>
                <a:ea typeface="Roboto Mono"/>
                <a:cs typeface="Calibri"/>
              </a:rPr>
              <a:t>)</a:t>
            </a:r>
            <a:endParaRPr lang="en-US" dirty="0">
              <a:ea typeface="Calibri"/>
              <a:cs typeface="Calibri"/>
            </a:endParaRPr>
          </a:p>
          <a:p>
            <a:r>
              <a:rPr lang="en-US">
                <a:solidFill>
                  <a:srgbClr val="FF0000"/>
                </a:solidFill>
                <a:latin typeface="Roboto Mono"/>
                <a:ea typeface="Roboto Mono"/>
                <a:cs typeface="Calibri"/>
              </a:rPr>
              <a:t>RETURN </a:t>
            </a:r>
            <a:r>
              <a:rPr lang="en-US">
                <a:solidFill>
                  <a:srgbClr val="7030A0"/>
                </a:solidFill>
                <a:latin typeface="Roboto Mono"/>
                <a:ea typeface="Roboto Mono"/>
                <a:cs typeface="Calibri"/>
              </a:rPr>
              <a:t>q</a:t>
            </a:r>
            <a:endParaRPr lang="en-US" dirty="0">
              <a:solidFill>
                <a:srgbClr val="7030A0"/>
              </a:solidFill>
              <a:latin typeface="Roboto Mono"/>
              <a:ea typeface="Roboto Mono"/>
              <a:cs typeface="Calibri"/>
            </a:endParaRPr>
          </a:p>
          <a:p>
            <a:endParaRPr lang="en-US" dirty="0">
              <a:latin typeface="Roboto Mono"/>
              <a:ea typeface="Roboto Mono"/>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7"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58"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CYPHER · OPTIONAL MATCH</a:t>
            </a:r>
            <a:endParaRPr lang="en-US" sz="1950" b="0" u="none" strike="noStrike">
              <a:solidFill>
                <a:srgbClr val="000000"/>
              </a:solidFill>
              <a:effectLst/>
              <a:uFillTx/>
              <a:latin typeface="Arial"/>
            </a:endParaRPr>
          </a:p>
        </p:txBody>
      </p:sp>
      <p:sp>
        <p:nvSpPr>
          <p:cNvPr id="259"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 plain MATCH drops the row, which looks like a zero</a:t>
            </a:r>
            <a:endParaRPr lang="en-US" sz="4650" b="0" u="none" strike="noStrike">
              <a:solidFill>
                <a:srgbClr val="000000"/>
              </a:solidFill>
              <a:effectLst/>
              <a:uFillTx/>
              <a:latin typeface="Arial"/>
            </a:endParaRPr>
          </a:p>
        </p:txBody>
      </p:sp>
      <p:sp>
        <p:nvSpPr>
          <p:cNvPr id="260"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If any part of the pattern misses, the whole row disappears.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That reads as 'none' when it means 'this source has no entry'.</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OPTIONAL MATCH keeps the row and gives you a null instead.</a:t>
            </a:r>
            <a:endParaRPr lang="en-US" sz="3000" b="0" u="none" strike="noStrike">
              <a:solidFill>
                <a:srgbClr val="000000"/>
              </a:solidFill>
              <a:effectLst/>
              <a:uFillTx/>
              <a:latin typeface="Arial"/>
            </a:endParaRPr>
          </a:p>
        </p:txBody>
      </p:sp>
      <p:sp>
        <p:nvSpPr>
          <p:cNvPr id="261"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The same three prefixes, with and without OPTIONAL MATCH</a:t>
            </a:r>
            <a:endParaRPr lang="en-US" sz="2400" b="0" u="none" strike="noStrike">
              <a:solidFill>
                <a:srgbClr val="000000"/>
              </a:solidFill>
              <a:effectLst/>
              <a:uFillTx/>
              <a:latin typeface="Arial"/>
            </a:endParaRPr>
          </a:p>
        </p:txBody>
      </p:sp>
      <p:sp>
        <p:nvSpPr>
          <p:cNvPr id="262"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263" name="Picture 14" descr="f25_optional_match.png"/>
          <p:cNvPicPr/>
          <p:nvPr/>
        </p:nvPicPr>
        <p:blipFill>
          <a:blip r:embed="rId3"/>
          <a:stretch/>
        </p:blipFill>
        <p:spPr>
          <a:xfrm>
            <a:off x="10771920" y="3907080"/>
            <a:ext cx="5887800" cy="350604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1"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72"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CYPHER · FROM PYTHON</a:t>
            </a:r>
            <a:endParaRPr lang="en-US" sz="1950" b="0" u="none" strike="noStrike">
              <a:solidFill>
                <a:srgbClr val="000000"/>
              </a:solidFill>
              <a:effectLst/>
              <a:uFillTx/>
              <a:latin typeface="Arial"/>
            </a:endParaRPr>
          </a:p>
        </p:txBody>
      </p:sp>
      <p:sp>
        <p:nvSpPr>
          <p:cNvPr id="273"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One driver, one helper, and then it is ordinary pandas</a:t>
            </a:r>
            <a:endParaRPr lang="en-US" sz="4650" b="0" u="none" strike="noStrike">
              <a:solidFill>
                <a:srgbClr val="000000"/>
              </a:solidFill>
              <a:effectLst/>
              <a:uFillTx/>
              <a:latin typeface="Arial"/>
            </a:endParaRPr>
          </a:p>
        </p:txBody>
      </p:sp>
      <p:sp>
        <p:nvSpPr>
          <p:cNvPr id="274"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Open a driver once, hand it a Cypher string, get records back.</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The notebook wraps that in run_query(), which returns a DataFrame.</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Pass values as parameters, not as f-strings.</a:t>
            </a:r>
            <a:endParaRPr lang="en-US" sz="3000" b="0" u="none" strike="noStrike">
              <a:solidFill>
                <a:srgbClr val="000000"/>
              </a:solidFill>
              <a:effectLst/>
              <a:uFillTx/>
              <a:latin typeface="Arial"/>
            </a:endParaRPr>
          </a:p>
        </p:txBody>
      </p:sp>
      <p:sp>
        <p:nvSpPr>
          <p:cNvPr id="275"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Cypher string to driver to DataFrame</a:t>
            </a:r>
            <a:endParaRPr lang="en-US" sz="2400" b="0" u="none" strike="noStrike">
              <a:solidFill>
                <a:srgbClr val="000000"/>
              </a:solidFill>
              <a:effectLst/>
              <a:uFillTx/>
              <a:latin typeface="Arial"/>
            </a:endParaRPr>
          </a:p>
        </p:txBody>
      </p:sp>
      <p:sp>
        <p:nvSpPr>
          <p:cNvPr id="276"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277" name="Picture 14" descr="f27_to_dataframe.png"/>
          <p:cNvPicPr/>
          <p:nvPr/>
        </p:nvPicPr>
        <p:blipFill>
          <a:blip r:embed="rId3"/>
          <a:stretch/>
        </p:blipFill>
        <p:spPr>
          <a:xfrm>
            <a:off x="10775160" y="3907080"/>
            <a:ext cx="5881320" cy="350604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8"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279"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METHODOLOGY</a:t>
            </a:r>
            <a:endParaRPr lang="en-US" sz="1950" b="0" u="none" strike="noStrike">
              <a:solidFill>
                <a:srgbClr val="000000"/>
              </a:solidFill>
              <a:effectLst/>
              <a:uFillTx/>
              <a:latin typeface="Arial"/>
            </a:endParaRPr>
          </a:p>
        </p:txBody>
      </p:sp>
      <p:sp>
        <p:nvSpPr>
          <p:cNvPr id="280"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Writing a query that comes back</a:t>
            </a:r>
            <a:endParaRPr lang="en-US" sz="4650" b="0" u="none" strike="noStrike">
              <a:solidFill>
                <a:srgbClr val="000000"/>
              </a:solidFill>
              <a:effectLst/>
              <a:uFillTx/>
              <a:latin typeface="Arial"/>
            </a:endParaRPr>
          </a:p>
        </p:txBody>
      </p:sp>
      <p:sp>
        <p:nvSpPr>
          <p:cNvPr id="281" name="Text 3"/>
          <p:cNvSpPr/>
          <p:nvPr/>
        </p:nvSpPr>
        <p:spPr>
          <a:xfrm>
            <a:off x="1238400" y="4801680"/>
            <a:ext cx="8534880" cy="18284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3000" b="0" u="none" strike="noStrike">
                <a:solidFill>
                  <a:srgbClr val="343A40"/>
                </a:solidFill>
                <a:effectLst/>
                <a:uFillTx/>
                <a:latin typeface="Arial"/>
                <a:ea typeface="Arial"/>
              </a:rPr>
              <a:t>Tens of millions of nodes, so query shape matters as much as it would against a large SQL table.</a:t>
            </a:r>
            <a:endParaRPr lang="en-US" sz="3000" b="0" u="none" strike="noStrike">
              <a:solidFill>
                <a:srgbClr val="000000"/>
              </a:solidFill>
              <a:effectLst/>
              <a:uFillTx/>
              <a:latin typeface="Arial"/>
            </a:endParaRPr>
          </a:p>
        </p:txBody>
      </p:sp>
      <p:sp>
        <p:nvSpPr>
          <p:cNvPr id="282" name="Shape 4"/>
          <p:cNvSpPr/>
          <p:nvPr/>
        </p:nvSpPr>
        <p:spPr>
          <a:xfrm>
            <a:off x="1238400" y="6831720"/>
            <a:ext cx="8286480" cy="2343240"/>
          </a:xfrm>
          <a:prstGeom prst="rect">
            <a:avLst/>
          </a:prstGeom>
          <a:solidFill>
            <a:srgbClr val="F8F9FA"/>
          </a:solidFill>
          <a:ln w="12700">
            <a:solidFill>
              <a:srgbClr val="BE4228"/>
            </a:solidFill>
            <a:round/>
          </a:ln>
        </p:spPr>
        <p:style>
          <a:lnRef idx="0">
            <a:scrgbClr r="0" g="0" b="0"/>
          </a:lnRef>
          <a:fillRef idx="0">
            <a:scrgbClr r="0" g="0" b="0"/>
          </a:fillRef>
          <a:effectRef idx="0">
            <a:scrgbClr r="0" g="0" b="0"/>
          </a:effectRef>
          <a:fontRef idx="minor"/>
        </p:style>
        <p:txBody>
          <a:bodyPr lIns="330120" tIns="228600" rIns="330120" bIns="228600" anchor="t">
            <a:spAutoFit/>
          </a:bodyPr>
          <a:lstStyle/>
          <a:p>
            <a:pPr defTabSz="914400">
              <a:lnSpc>
                <a:spcPct val="100000"/>
              </a:lnSpc>
              <a:tabLst>
                <a:tab pos="0" algn="l"/>
              </a:tabLst>
            </a:pPr>
            <a:r>
              <a:rPr lang="en-US" sz="1800" b="1" u="none" strike="noStrike" spc="145">
                <a:solidFill>
                  <a:srgbClr val="BE4228"/>
                </a:solidFill>
                <a:effectLst/>
                <a:uFillTx/>
                <a:latin typeface="Arial"/>
                <a:ea typeface="Arial"/>
              </a:rPr>
              <a:t>KNOW THE LIMITS</a:t>
            </a:r>
            <a:endParaRPr lang="en-US" sz="1800" b="0" u="none" strike="noStrike">
              <a:solidFill>
                <a:srgbClr val="000000"/>
              </a:solidFill>
              <a:effectLst/>
              <a:uFillTx/>
              <a:latin typeface="Arial"/>
            </a:endParaRPr>
          </a:p>
          <a:p>
            <a:pPr defTabSz="914400">
              <a:lnSpc>
                <a:spcPct val="140000"/>
              </a:lnSpc>
              <a:spcBef>
                <a:spcPts val="601"/>
              </a:spcBef>
              <a:tabLst>
                <a:tab pos="0" algn="l"/>
              </a:tabLst>
            </a:pPr>
            <a:r>
              <a:rPr lang="en-US" sz="2400" b="0" u="none" strike="noStrike">
                <a:solidFill>
                  <a:srgbClr val="343A40"/>
                </a:solidFill>
                <a:effectLst/>
                <a:uFillTx/>
                <a:latin typeface="Arial"/>
                <a:ea typeface="Arial"/>
              </a:rPr>
              <a:t>A shared read-only service on 4 vCPU and 8 GB of RAM. Run your own copy if you need to query at a high rate.</a:t>
            </a:r>
            <a:endParaRPr lang="en-US" sz="2400" b="0" u="none" strike="noStrike">
              <a:solidFill>
                <a:srgbClr val="000000"/>
              </a:solidFill>
              <a:effectLst/>
              <a:uFillTx/>
              <a:latin typeface="Arial"/>
            </a:endParaRPr>
          </a:p>
        </p:txBody>
      </p:sp>
      <p:sp>
        <p:nvSpPr>
          <p:cNvPr id="283" name="Shape 8"/>
          <p:cNvSpPr/>
          <p:nvPr/>
        </p:nvSpPr>
        <p:spPr>
          <a:xfrm>
            <a:off x="10191600" y="3764520"/>
            <a:ext cx="6857640" cy="736200"/>
          </a:xfrm>
          <a:prstGeom prst="roundRect">
            <a:avLst>
              <a:gd name="adj" fmla="val 10345"/>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84" name="Shape 9"/>
          <p:cNvSpPr/>
          <p:nvPr/>
        </p:nvSpPr>
        <p:spPr>
          <a:xfrm>
            <a:off x="10191600" y="449496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285" name="Shape 10"/>
          <p:cNvSpPr/>
          <p:nvPr/>
        </p:nvSpPr>
        <p:spPr>
          <a:xfrm>
            <a:off x="10191600" y="376452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286" name="Shape 11"/>
          <p:cNvSpPr/>
          <p:nvPr/>
        </p:nvSpPr>
        <p:spPr>
          <a:xfrm>
            <a:off x="10191600" y="3764520"/>
            <a:ext cx="43920" cy="73620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87" name="Shape 12"/>
          <p:cNvSpPr/>
          <p:nvPr/>
        </p:nvSpPr>
        <p:spPr>
          <a:xfrm>
            <a:off x="17043480" y="3764520"/>
            <a:ext cx="9000" cy="7362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88" name="Text 13"/>
          <p:cNvSpPr/>
          <p:nvPr/>
        </p:nvSpPr>
        <p:spPr>
          <a:xfrm>
            <a:off x="10522080" y="3980520"/>
            <a:ext cx="321336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85000" lnSpcReduction="9999"/>
          </a:bodyPr>
          <a:lstStyle/>
          <a:p>
            <a:pPr defTabSz="914400">
              <a:lnSpc>
                <a:spcPct val="100000"/>
              </a:lnSpc>
              <a:tabLst>
                <a:tab pos="0" algn="l"/>
              </a:tabLst>
            </a:pPr>
            <a:r>
              <a:rPr lang="en-US" sz="2400" b="1" u="none" strike="noStrike">
                <a:solidFill>
                  <a:srgbClr val="212529"/>
                </a:solidFill>
                <a:effectLst/>
                <a:uFillTx/>
                <a:latin typeface="Arial"/>
                <a:ea typeface="Arial"/>
              </a:rPr>
              <a:t>Start</a:t>
            </a:r>
            <a:endParaRPr lang="en-US" sz="2400" b="0" u="none" strike="noStrike">
              <a:solidFill>
                <a:srgbClr val="000000"/>
              </a:solidFill>
              <a:effectLst/>
              <a:uFillTx/>
              <a:latin typeface="Arial"/>
            </a:endParaRPr>
          </a:p>
        </p:txBody>
      </p:sp>
      <p:sp>
        <p:nvSpPr>
          <p:cNvPr id="289" name="Text 14"/>
          <p:cNvSpPr/>
          <p:nvPr/>
        </p:nvSpPr>
        <p:spPr>
          <a:xfrm>
            <a:off x="13735800" y="3980520"/>
            <a:ext cx="321336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92500" lnSpcReduction="9999"/>
          </a:bodyPr>
          <a:lstStyle/>
          <a:p>
            <a:pPr defTabSz="914400">
              <a:lnSpc>
                <a:spcPct val="100000"/>
              </a:lnSpc>
              <a:tabLst>
                <a:tab pos="0" algn="l"/>
              </a:tabLst>
            </a:pPr>
            <a:r>
              <a:rPr lang="en-US" sz="2200" b="0" u="none" strike="noStrike">
                <a:solidFill>
                  <a:srgbClr val="2B5187"/>
                </a:solidFill>
                <a:effectLst/>
                <a:uFillTx/>
                <a:latin typeface="Arial"/>
                <a:ea typeface="Arial"/>
              </a:rPr>
              <a:t>AS {asn: ...}</a:t>
            </a:r>
            <a:endParaRPr lang="en-US" sz="2200" b="0" u="none" strike="noStrike">
              <a:solidFill>
                <a:srgbClr val="000000"/>
              </a:solidFill>
              <a:effectLst/>
              <a:uFillTx/>
              <a:latin typeface="Arial"/>
            </a:endParaRPr>
          </a:p>
        </p:txBody>
      </p:sp>
      <p:sp>
        <p:nvSpPr>
          <p:cNvPr id="290" name="Text 15"/>
          <p:cNvSpPr/>
          <p:nvPr/>
        </p:nvSpPr>
        <p:spPr>
          <a:xfrm>
            <a:off x="9848880" y="4577400"/>
            <a:ext cx="7543440" cy="323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ctr" defTabSz="914400">
              <a:lnSpc>
                <a:spcPct val="100000"/>
              </a:lnSpc>
              <a:tabLst>
                <a:tab pos="0" algn="l"/>
              </a:tabLst>
            </a:pPr>
            <a:r>
              <a:rPr lang="en-US" sz="2250" b="0" u="none" strike="noStrike">
                <a:solidFill>
                  <a:srgbClr val="C2C8D2"/>
                </a:solidFill>
                <a:effectLst/>
                <a:uFillTx/>
                <a:latin typeface="Arial"/>
                <a:ea typeface="Arial"/>
              </a:rPr>
              <a:t>↓</a:t>
            </a:r>
            <a:endParaRPr lang="en-US" sz="2250" b="0" u="none" strike="noStrike">
              <a:solidFill>
                <a:srgbClr val="000000"/>
              </a:solidFill>
              <a:effectLst/>
              <a:uFillTx/>
              <a:latin typeface="Arial"/>
            </a:endParaRPr>
          </a:p>
        </p:txBody>
      </p:sp>
      <p:sp>
        <p:nvSpPr>
          <p:cNvPr id="291" name="Shape 16"/>
          <p:cNvSpPr/>
          <p:nvPr/>
        </p:nvSpPr>
        <p:spPr>
          <a:xfrm>
            <a:off x="10191600" y="4939560"/>
            <a:ext cx="6857640" cy="736200"/>
          </a:xfrm>
          <a:prstGeom prst="roundRect">
            <a:avLst>
              <a:gd name="adj" fmla="val 10345"/>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92" name="Shape 17"/>
          <p:cNvSpPr/>
          <p:nvPr/>
        </p:nvSpPr>
        <p:spPr>
          <a:xfrm>
            <a:off x="10191600" y="566964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293" name="Shape 18"/>
          <p:cNvSpPr/>
          <p:nvPr/>
        </p:nvSpPr>
        <p:spPr>
          <a:xfrm>
            <a:off x="10191600" y="493956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294" name="Shape 19"/>
          <p:cNvSpPr/>
          <p:nvPr/>
        </p:nvSpPr>
        <p:spPr>
          <a:xfrm>
            <a:off x="10191600" y="4939560"/>
            <a:ext cx="43920" cy="73620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95" name="Shape 20"/>
          <p:cNvSpPr/>
          <p:nvPr/>
        </p:nvSpPr>
        <p:spPr>
          <a:xfrm>
            <a:off x="17043480" y="4939560"/>
            <a:ext cx="9000" cy="7362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296" name="Text 21"/>
          <p:cNvSpPr/>
          <p:nvPr/>
        </p:nvSpPr>
        <p:spPr>
          <a:xfrm>
            <a:off x="10522080" y="5155200"/>
            <a:ext cx="322740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85000" lnSpcReduction="9999"/>
          </a:bodyPr>
          <a:lstStyle/>
          <a:p>
            <a:pPr defTabSz="914400">
              <a:lnSpc>
                <a:spcPct val="100000"/>
              </a:lnSpc>
              <a:tabLst>
                <a:tab pos="0" algn="l"/>
              </a:tabLst>
            </a:pPr>
            <a:r>
              <a:rPr lang="en-US" sz="2400" b="1" u="none" strike="noStrike">
                <a:solidFill>
                  <a:srgbClr val="212529"/>
                </a:solidFill>
                <a:effectLst/>
                <a:uFillTx/>
                <a:latin typeface="Arial"/>
                <a:ea typeface="Arial"/>
              </a:rPr>
              <a:t>Filter</a:t>
            </a:r>
            <a:endParaRPr lang="en-US" sz="2400" b="0" u="none" strike="noStrike">
              <a:solidFill>
                <a:srgbClr val="000000"/>
              </a:solidFill>
              <a:effectLst/>
              <a:uFillTx/>
              <a:latin typeface="Arial"/>
            </a:endParaRPr>
          </a:p>
        </p:txBody>
      </p:sp>
      <p:sp>
        <p:nvSpPr>
          <p:cNvPr id="297" name="Text 22"/>
          <p:cNvSpPr/>
          <p:nvPr/>
        </p:nvSpPr>
        <p:spPr>
          <a:xfrm>
            <a:off x="13749480" y="5155200"/>
            <a:ext cx="322740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92500" lnSpcReduction="9999"/>
          </a:bodyPr>
          <a:lstStyle/>
          <a:p>
            <a:pPr defTabSz="914400">
              <a:lnSpc>
                <a:spcPct val="100000"/>
              </a:lnSpc>
              <a:tabLst>
                <a:tab pos="0" algn="l"/>
              </a:tabLst>
            </a:pPr>
            <a:r>
              <a:rPr lang="en-US" sz="2200" b="0" u="none" strike="noStrike">
                <a:solidFill>
                  <a:srgbClr val="2B5187"/>
                </a:solidFill>
                <a:effectLst/>
                <a:uFillTx/>
                <a:latin typeface="Arial"/>
                <a:ea typeface="Arial"/>
              </a:rPr>
              <a:t>reference_name</a:t>
            </a:r>
            <a:endParaRPr lang="en-US" sz="2200" b="0" u="none" strike="noStrike">
              <a:solidFill>
                <a:srgbClr val="000000"/>
              </a:solidFill>
              <a:effectLst/>
              <a:uFillTx/>
              <a:latin typeface="Arial"/>
            </a:endParaRPr>
          </a:p>
        </p:txBody>
      </p:sp>
      <p:sp>
        <p:nvSpPr>
          <p:cNvPr id="298" name="Text 23"/>
          <p:cNvSpPr/>
          <p:nvPr/>
        </p:nvSpPr>
        <p:spPr>
          <a:xfrm>
            <a:off x="9848880" y="5752080"/>
            <a:ext cx="7543440" cy="323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ctr" defTabSz="914400">
              <a:lnSpc>
                <a:spcPct val="100000"/>
              </a:lnSpc>
              <a:tabLst>
                <a:tab pos="0" algn="l"/>
              </a:tabLst>
            </a:pPr>
            <a:r>
              <a:rPr lang="en-US" sz="2250" b="0" u="none" strike="noStrike">
                <a:solidFill>
                  <a:srgbClr val="C2C8D2"/>
                </a:solidFill>
                <a:effectLst/>
                <a:uFillTx/>
                <a:latin typeface="Arial"/>
                <a:ea typeface="Arial"/>
              </a:rPr>
              <a:t>↓</a:t>
            </a:r>
            <a:endParaRPr lang="en-US" sz="2250" b="0" u="none" strike="noStrike">
              <a:solidFill>
                <a:srgbClr val="000000"/>
              </a:solidFill>
              <a:effectLst/>
              <a:uFillTx/>
              <a:latin typeface="Arial"/>
            </a:endParaRPr>
          </a:p>
        </p:txBody>
      </p:sp>
      <p:sp>
        <p:nvSpPr>
          <p:cNvPr id="299" name="Shape 24"/>
          <p:cNvSpPr/>
          <p:nvPr/>
        </p:nvSpPr>
        <p:spPr>
          <a:xfrm>
            <a:off x="10191600" y="6114240"/>
            <a:ext cx="6857640" cy="736200"/>
          </a:xfrm>
          <a:prstGeom prst="roundRect">
            <a:avLst>
              <a:gd name="adj" fmla="val 10345"/>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00" name="Shape 25"/>
          <p:cNvSpPr/>
          <p:nvPr/>
        </p:nvSpPr>
        <p:spPr>
          <a:xfrm>
            <a:off x="10191600" y="684432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301" name="Shape 26"/>
          <p:cNvSpPr/>
          <p:nvPr/>
        </p:nvSpPr>
        <p:spPr>
          <a:xfrm>
            <a:off x="10191600" y="6114240"/>
            <a:ext cx="6857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302" name="Shape 27"/>
          <p:cNvSpPr/>
          <p:nvPr/>
        </p:nvSpPr>
        <p:spPr>
          <a:xfrm>
            <a:off x="10191600" y="6114240"/>
            <a:ext cx="43920" cy="736200"/>
          </a:xfrm>
          <a:prstGeom prst="rect">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03" name="Shape 28"/>
          <p:cNvSpPr/>
          <p:nvPr/>
        </p:nvSpPr>
        <p:spPr>
          <a:xfrm>
            <a:off x="17043480" y="6114240"/>
            <a:ext cx="9000" cy="7362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04" name="Text 29"/>
          <p:cNvSpPr/>
          <p:nvPr/>
        </p:nvSpPr>
        <p:spPr>
          <a:xfrm>
            <a:off x="10522080" y="6329880"/>
            <a:ext cx="319284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85000" lnSpcReduction="9999"/>
          </a:bodyPr>
          <a:lstStyle/>
          <a:p>
            <a:pPr defTabSz="914400">
              <a:lnSpc>
                <a:spcPct val="100000"/>
              </a:lnSpc>
              <a:tabLst>
                <a:tab pos="0" algn="l"/>
              </a:tabLst>
            </a:pPr>
            <a:r>
              <a:rPr lang="en-US" sz="2400" b="1" u="none" strike="noStrike">
                <a:solidFill>
                  <a:srgbClr val="212529"/>
                </a:solidFill>
                <a:effectLst/>
                <a:uFillTx/>
                <a:latin typeface="Arial"/>
                <a:ea typeface="Arial"/>
              </a:rPr>
              <a:t>Traverse</a:t>
            </a:r>
            <a:endParaRPr lang="en-US" sz="2400" b="0" u="none" strike="noStrike">
              <a:solidFill>
                <a:srgbClr val="000000"/>
              </a:solidFill>
              <a:effectLst/>
              <a:uFillTx/>
              <a:latin typeface="Arial"/>
            </a:endParaRPr>
          </a:p>
        </p:txBody>
      </p:sp>
      <p:sp>
        <p:nvSpPr>
          <p:cNvPr id="305" name="Text 30"/>
          <p:cNvSpPr/>
          <p:nvPr/>
        </p:nvSpPr>
        <p:spPr>
          <a:xfrm>
            <a:off x="13715280" y="6329880"/>
            <a:ext cx="319284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92500" lnSpcReduction="9999"/>
          </a:bodyPr>
          <a:lstStyle/>
          <a:p>
            <a:pPr defTabSz="914400">
              <a:lnSpc>
                <a:spcPct val="100000"/>
              </a:lnSpc>
              <a:tabLst>
                <a:tab pos="0" algn="l"/>
              </a:tabLst>
            </a:pPr>
            <a:r>
              <a:rPr lang="en-US" sz="2200" b="0" u="none" strike="noStrike">
                <a:solidFill>
                  <a:srgbClr val="2B5187"/>
                </a:solidFill>
                <a:effectLst/>
                <a:uFillTx/>
                <a:latin typeface="Arial"/>
                <a:ea typeface="Arial"/>
              </a:rPr>
              <a:t>explicit hops</a:t>
            </a:r>
            <a:endParaRPr lang="en-US" sz="2200" b="0" u="none" strike="noStrike">
              <a:solidFill>
                <a:srgbClr val="000000"/>
              </a:solidFill>
              <a:effectLst/>
              <a:uFillTx/>
              <a:latin typeface="Arial"/>
            </a:endParaRPr>
          </a:p>
        </p:txBody>
      </p:sp>
      <p:sp>
        <p:nvSpPr>
          <p:cNvPr id="306" name="Text 31"/>
          <p:cNvSpPr/>
          <p:nvPr/>
        </p:nvSpPr>
        <p:spPr>
          <a:xfrm>
            <a:off x="9848880" y="6927120"/>
            <a:ext cx="7543440" cy="323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algn="ctr" defTabSz="914400">
              <a:lnSpc>
                <a:spcPct val="100000"/>
              </a:lnSpc>
              <a:tabLst>
                <a:tab pos="0" algn="l"/>
              </a:tabLst>
            </a:pPr>
            <a:r>
              <a:rPr lang="en-US" sz="2250" b="0" u="none" strike="noStrike">
                <a:solidFill>
                  <a:srgbClr val="C2C8D2"/>
                </a:solidFill>
                <a:effectLst/>
                <a:uFillTx/>
                <a:latin typeface="Arial"/>
                <a:ea typeface="Arial"/>
              </a:rPr>
              <a:t>↓</a:t>
            </a:r>
            <a:endParaRPr lang="en-US" sz="2250" b="0" u="none" strike="noStrike">
              <a:solidFill>
                <a:srgbClr val="000000"/>
              </a:solidFill>
              <a:effectLst/>
              <a:uFillTx/>
              <a:latin typeface="Arial"/>
            </a:endParaRPr>
          </a:p>
        </p:txBody>
      </p:sp>
      <p:sp>
        <p:nvSpPr>
          <p:cNvPr id="307" name="Shape 32"/>
          <p:cNvSpPr/>
          <p:nvPr/>
        </p:nvSpPr>
        <p:spPr>
          <a:xfrm>
            <a:off x="10191600" y="7288920"/>
            <a:ext cx="6857640" cy="736200"/>
          </a:xfrm>
          <a:prstGeom prst="roundRect">
            <a:avLst>
              <a:gd name="adj" fmla="val 10345"/>
            </a:avLst>
          </a:prstGeom>
          <a:solidFill>
            <a:srgbClr val="E9EFF7"/>
          </a:solidFill>
          <a:ln w="6350">
            <a:solidFill>
              <a:srgbClr val="2B518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08" name="Text 33"/>
          <p:cNvSpPr/>
          <p:nvPr/>
        </p:nvSpPr>
        <p:spPr>
          <a:xfrm>
            <a:off x="10483920" y="7504920"/>
            <a:ext cx="322560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85000" lnSpcReduction="9999"/>
          </a:bodyPr>
          <a:lstStyle/>
          <a:p>
            <a:pPr defTabSz="914400">
              <a:lnSpc>
                <a:spcPct val="100000"/>
              </a:lnSpc>
              <a:tabLst>
                <a:tab pos="0" algn="l"/>
              </a:tabLst>
            </a:pPr>
            <a:r>
              <a:rPr lang="en-US" sz="2400" b="1" u="none" strike="noStrike">
                <a:solidFill>
                  <a:srgbClr val="2B5187"/>
                </a:solidFill>
                <a:effectLst/>
                <a:uFillTx/>
                <a:latin typeface="Arial"/>
                <a:ea typeface="Arial"/>
              </a:rPr>
              <a:t>Prototype</a:t>
            </a:r>
            <a:endParaRPr lang="en-US" sz="2400" b="0" u="none" strike="noStrike">
              <a:solidFill>
                <a:srgbClr val="000000"/>
              </a:solidFill>
              <a:effectLst/>
              <a:uFillTx/>
              <a:latin typeface="Arial"/>
            </a:endParaRPr>
          </a:p>
        </p:txBody>
      </p:sp>
      <p:sp>
        <p:nvSpPr>
          <p:cNvPr id="309" name="Text 34"/>
          <p:cNvSpPr/>
          <p:nvPr/>
        </p:nvSpPr>
        <p:spPr>
          <a:xfrm>
            <a:off x="13709880" y="7504920"/>
            <a:ext cx="3225600" cy="342720"/>
          </a:xfrm>
          <a:prstGeom prst="rect">
            <a:avLst/>
          </a:prstGeom>
          <a:noFill/>
          <a:ln w="0">
            <a:noFill/>
          </a:ln>
        </p:spPr>
        <p:style>
          <a:lnRef idx="0">
            <a:scrgbClr r="0" g="0" b="0"/>
          </a:lnRef>
          <a:fillRef idx="0">
            <a:scrgbClr r="0" g="0" b="0"/>
          </a:fillRef>
          <a:effectRef idx="0">
            <a:scrgbClr r="0" g="0" b="0"/>
          </a:effectRef>
          <a:fontRef idx="minor"/>
        </p:style>
        <p:txBody>
          <a:bodyPr wrap="none" lIns="25560" tIns="25560" rIns="25560" bIns="25560" anchor="t">
            <a:normAutofit fontScale="92500" lnSpcReduction="9999"/>
          </a:bodyPr>
          <a:lstStyle/>
          <a:p>
            <a:pPr defTabSz="914400">
              <a:lnSpc>
                <a:spcPct val="100000"/>
              </a:lnSpc>
              <a:tabLst>
                <a:tab pos="0" algn="l"/>
              </a:tabLst>
            </a:pPr>
            <a:r>
              <a:rPr lang="en-US" sz="2200" b="0" u="none" strike="noStrike">
                <a:solidFill>
                  <a:srgbClr val="212529"/>
                </a:solidFill>
                <a:effectLst/>
                <a:uFillTx/>
                <a:latin typeface="Arial"/>
                <a:ea typeface="Arial"/>
              </a:rPr>
              <a:t>LIMIT 10</a:t>
            </a:r>
            <a:endParaRPr lang="en-US" sz="2200" b="0" u="none" strike="noStrike">
              <a:solidFill>
                <a:srgbClr val="000000"/>
              </a:solidFill>
              <a:effectLst/>
              <a:uFillTx/>
              <a:latin typeface="Arial"/>
            </a:endParaRPr>
          </a:p>
        </p:txBody>
      </p:sp>
      <p:sp>
        <p:nvSpPr>
          <p:cNvPr id="310" name="Text 35"/>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B5187"/>
        </a:solidFill>
        <a:effectLst/>
      </p:bgPr>
    </p:bg>
    <p:spTree>
      <p:nvGrpSpPr>
        <p:cNvPr id="1" name=""/>
        <p:cNvGrpSpPr/>
        <p:nvPr/>
      </p:nvGrpSpPr>
      <p:grpSpPr>
        <a:xfrm>
          <a:off x="0" y="0"/>
          <a:ext cx="0" cy="0"/>
          <a:chOff x="0" y="0"/>
          <a:chExt cx="0" cy="0"/>
        </a:xfrm>
      </p:grpSpPr>
      <p:sp>
        <p:nvSpPr>
          <p:cNvPr id="311" name="Text 3"/>
          <p:cNvSpPr/>
          <p:nvPr/>
        </p:nvSpPr>
        <p:spPr>
          <a:xfrm>
            <a:off x="1238400" y="2190600"/>
            <a:ext cx="809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PART FOUR</a:t>
            </a:r>
            <a:endParaRPr lang="en-US" sz="1950" b="0" u="none" strike="noStrike">
              <a:solidFill>
                <a:srgbClr val="FFFFFF"/>
              </a:solidFill>
              <a:effectLst/>
              <a:uFillTx/>
              <a:latin typeface="Arial"/>
            </a:endParaRPr>
          </a:p>
        </p:txBody>
      </p:sp>
      <p:sp>
        <p:nvSpPr>
          <p:cNvPr id="312" name="Text 4"/>
          <p:cNvSpPr/>
          <p:nvPr/>
        </p:nvSpPr>
        <p:spPr>
          <a:xfrm>
            <a:off x="1238400" y="2565360"/>
            <a:ext cx="8098200" cy="183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90000"/>
              </a:lnSpc>
              <a:tabLst>
                <a:tab pos="0" algn="l"/>
              </a:tabLst>
            </a:pPr>
            <a:r>
              <a:rPr lang="en-US" sz="15750" b="0" u="none" strike="noStrike" spc="-315">
                <a:solidFill>
                  <a:srgbClr val="FFFFFF"/>
                </a:solidFill>
                <a:effectLst/>
                <a:uFillTx/>
                <a:latin typeface="Arial"/>
                <a:ea typeface="Arial"/>
              </a:rPr>
              <a:t>04</a:t>
            </a:r>
            <a:endParaRPr lang="en-US" sz="15750" b="0" u="none" strike="noStrike">
              <a:solidFill>
                <a:srgbClr val="FFFFFF"/>
              </a:solidFill>
              <a:effectLst/>
              <a:uFillTx/>
              <a:latin typeface="Arial"/>
            </a:endParaRPr>
          </a:p>
        </p:txBody>
      </p:sp>
      <p:sp>
        <p:nvSpPr>
          <p:cNvPr id="313" name="Text 5"/>
          <p:cNvSpPr/>
          <p:nvPr/>
        </p:nvSpPr>
        <p:spPr>
          <a:xfrm>
            <a:off x="1238400" y="4613400"/>
            <a:ext cx="8098200" cy="6778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800" b="0" u="none" strike="noStrike" spc="-48">
                <a:solidFill>
                  <a:srgbClr val="FFFFFF"/>
                </a:solidFill>
                <a:effectLst/>
                <a:uFillTx/>
                <a:latin typeface="Arial"/>
                <a:ea typeface="Arial"/>
              </a:rPr>
              <a:t>What it is for</a:t>
            </a:r>
            <a:endParaRPr lang="en-US" sz="4800" b="0" u="none" strike="noStrike">
              <a:solidFill>
                <a:srgbClr val="FFFFFF"/>
              </a:solidFill>
              <a:effectLst/>
              <a:uFillTx/>
              <a:latin typeface="Arial"/>
            </a:endParaRPr>
          </a:p>
        </p:txBody>
      </p:sp>
      <p:sp>
        <p:nvSpPr>
          <p:cNvPr id="314" name="Text 6"/>
          <p:cNvSpPr/>
          <p:nvPr/>
        </p:nvSpPr>
        <p:spPr>
          <a:xfrm>
            <a:off x="1238400" y="5491080"/>
            <a:ext cx="8098200" cy="4748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2550" b="0" u="none" strike="noStrike">
                <a:solidFill>
                  <a:srgbClr val="A9C2E4"/>
                </a:solidFill>
                <a:effectLst/>
                <a:uFillTx/>
                <a:latin typeface="Arial"/>
                <a:ea typeface="Arial"/>
              </a:rPr>
              <a:t>And what it will not do for your hackathon project</a:t>
            </a:r>
            <a:endParaRPr lang="en-US" sz="2550" b="0" u="none" strike="noStrike">
              <a:solidFill>
                <a:srgbClr val="FFFFFF"/>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5"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16" name="Text 1"/>
          <p:cNvSpPr/>
          <p:nvPr/>
        </p:nvSpPr>
        <p:spPr>
          <a:xfrm>
            <a:off x="1238400" y="3419640"/>
            <a:ext cx="1466820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A9C2E4"/>
                </a:solidFill>
                <a:effectLst/>
                <a:uFillTx/>
                <a:latin typeface="Arial"/>
                <a:ea typeface="Arial"/>
              </a:rPr>
              <a:t>THE QUESTION</a:t>
            </a:r>
            <a:endParaRPr lang="en-US" sz="1950" b="0" u="none" strike="noStrike">
              <a:solidFill>
                <a:srgbClr val="000000"/>
              </a:solidFill>
              <a:effectLst/>
              <a:uFillTx/>
              <a:latin typeface="Arial"/>
            </a:endParaRPr>
          </a:p>
        </p:txBody>
      </p:sp>
      <p:sp>
        <p:nvSpPr>
          <p:cNvPr id="317" name="Text 2"/>
          <p:cNvSpPr/>
          <p:nvPr/>
        </p:nvSpPr>
        <p:spPr>
          <a:xfrm>
            <a:off x="1238400" y="3965760"/>
            <a:ext cx="13734720" cy="1765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8000"/>
              </a:lnSpc>
              <a:tabLst>
                <a:tab pos="0" algn="l"/>
              </a:tabLst>
            </a:pPr>
            <a:r>
              <a:rPr lang="en-US" sz="6300" b="0" u="none" strike="noStrike" spc="-94">
                <a:solidFill>
                  <a:srgbClr val="212529"/>
                </a:solidFill>
                <a:effectLst/>
                <a:uFillTx/>
                <a:latin typeface="Arial"/>
                <a:ea typeface="Arial"/>
              </a:rPr>
              <a:t>IYP is a snapshot. Your question is about change over time.</a:t>
            </a:r>
            <a:endParaRPr lang="en-US" sz="6300" b="0" u="none" strike="noStrike">
              <a:solidFill>
                <a:srgbClr val="000000"/>
              </a:solidFill>
              <a:effectLst/>
              <a:uFillTx/>
              <a:latin typeface="Arial"/>
            </a:endParaRPr>
          </a:p>
        </p:txBody>
      </p:sp>
      <p:sp>
        <p:nvSpPr>
          <p:cNvPr id="318" name="Text 3"/>
          <p:cNvSpPr/>
          <p:nvPr/>
        </p:nvSpPr>
        <p:spPr>
          <a:xfrm>
            <a:off x="1238400" y="6036840"/>
            <a:ext cx="10791360" cy="944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2550" b="0" u="none" strike="noStrike">
                <a:solidFill>
                  <a:srgbClr val="6C757D"/>
                </a:solidFill>
                <a:effectLst/>
                <a:uFillTx/>
                <a:latin typeface="Arial"/>
                <a:ea typeface="Arial"/>
              </a:rPr>
              <a:t>So what is it actually the right tool for?</a:t>
            </a:r>
            <a:endParaRPr lang="en-US" sz="2550" b="0" u="none" strike="noStrike">
              <a:solidFill>
                <a:srgbClr val="000000"/>
              </a:solidFill>
              <a:effectLst/>
              <a:uFillTx/>
              <a:latin typeface="Arial"/>
            </a:endParaRPr>
          </a:p>
        </p:txBody>
      </p:sp>
      <p:sp>
        <p:nvSpPr>
          <p:cNvPr id="319" name="Text 4"/>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0"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21"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AT THE HACKATHON · DIVISION OF LABOUR</a:t>
            </a:r>
            <a:endParaRPr lang="en-US" sz="1950" b="0" u="none" strike="noStrike">
              <a:solidFill>
                <a:srgbClr val="000000"/>
              </a:solidFill>
              <a:effectLst/>
              <a:uFillTx/>
              <a:latin typeface="Arial"/>
            </a:endParaRPr>
          </a:p>
        </p:txBody>
      </p:sp>
      <p:sp>
        <p:nvSpPr>
          <p:cNvPr id="322"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Time series tell you when. IYP tells you who and what</a:t>
            </a:r>
            <a:endParaRPr lang="en-US" sz="4650" b="0" u="none" strike="noStrike">
              <a:solidFill>
                <a:srgbClr val="000000"/>
              </a:solidFill>
              <a:effectLst/>
              <a:uFillTx/>
              <a:latin typeface="Arial"/>
            </a:endParaRPr>
          </a:p>
        </p:txBody>
      </p:sp>
      <p:sp>
        <p:nvSpPr>
          <p:cNvPr id="323"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Telescope, BGP feeds and IODA answer when something changed.</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IYP answers whose address space it was and what depended on it.</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A forensic story needs both halves, from different tools.</a:t>
            </a:r>
            <a:endParaRPr lang="en-US" sz="3000" b="0" u="none" strike="noStrike">
              <a:solidFill>
                <a:srgbClr val="000000"/>
              </a:solidFill>
              <a:effectLst/>
              <a:uFillTx/>
              <a:latin typeface="Arial"/>
            </a:endParaRPr>
          </a:p>
        </p:txBody>
      </p:sp>
      <p:sp>
        <p:nvSpPr>
          <p:cNvPr id="324"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Two different questions, two different shapes of data</a:t>
            </a:r>
            <a:endParaRPr lang="en-US" sz="2400" b="0" u="none" strike="noStrike">
              <a:solidFill>
                <a:srgbClr val="000000"/>
              </a:solidFill>
              <a:effectLst/>
              <a:uFillTx/>
              <a:latin typeface="Arial"/>
            </a:endParaRPr>
          </a:p>
        </p:txBody>
      </p:sp>
      <p:sp>
        <p:nvSpPr>
          <p:cNvPr id="325"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326" name="Picture 14" descr="f31_when_vs_who.png"/>
          <p:cNvPicPr/>
          <p:nvPr/>
        </p:nvPicPr>
        <p:blipFill>
          <a:blip r:embed="rId3"/>
          <a:stretch/>
        </p:blipFill>
        <p:spPr>
          <a:xfrm>
            <a:off x="10770840" y="3907080"/>
            <a:ext cx="5889600" cy="3506040"/>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28"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AT THE HACKATHON · A PROJECT IDEA</a:t>
            </a:r>
            <a:endParaRPr lang="en-US" sz="1950" b="0" u="none" strike="noStrike">
              <a:solidFill>
                <a:srgbClr val="000000"/>
              </a:solidFill>
              <a:effectLst/>
              <a:uFillTx/>
              <a:latin typeface="Arial"/>
            </a:endParaRPr>
          </a:p>
        </p:txBody>
      </p:sp>
      <p:sp>
        <p:nvSpPr>
          <p:cNvPr id="329"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One build is one static picture of the Internet</a:t>
            </a:r>
            <a:endParaRPr lang="en-US" sz="4650" b="0" u="none" strike="noStrike">
              <a:solidFill>
                <a:srgbClr val="000000"/>
              </a:solidFill>
              <a:effectLst/>
              <a:uFillTx/>
              <a:latin typeface="Arial"/>
            </a:endParaRPr>
          </a:p>
        </p:txBody>
      </p:sp>
      <p:sp>
        <p:nvSpPr>
          <p:cNvPr id="330"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Each snapshot is topology at a moment, which is why change is hard.</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Several instances at different dates could be diffed against each other.</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Standing that up is non-trivial, and it is on the table as a project.</a:t>
            </a:r>
            <a:endParaRPr lang="en-US" sz="3000" b="0" u="none" strike="noStrike">
              <a:solidFill>
                <a:srgbClr val="000000"/>
              </a:solidFill>
              <a:effectLst/>
              <a:uFillTx/>
              <a:latin typeface="Arial"/>
            </a:endParaRPr>
          </a:p>
        </p:txBody>
      </p:sp>
      <p:sp>
        <p:nvSpPr>
          <p:cNvPr id="331"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Three snapshots, and the diffs nobody has taken yet</a:t>
            </a:r>
            <a:endParaRPr lang="en-US" sz="2400" b="0" u="none" strike="noStrike">
              <a:solidFill>
                <a:srgbClr val="000000"/>
              </a:solidFill>
              <a:effectLst/>
              <a:uFillTx/>
              <a:latin typeface="Arial"/>
            </a:endParaRPr>
          </a:p>
        </p:txBody>
      </p:sp>
      <p:sp>
        <p:nvSpPr>
          <p:cNvPr id="332"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333" name="Picture 14" descr="f32_snapshot_diffs.png"/>
          <p:cNvPicPr/>
          <p:nvPr/>
        </p:nvPicPr>
        <p:blipFill>
          <a:blip r:embed="rId3"/>
          <a:stretch/>
        </p:blipFill>
        <p:spPr>
          <a:xfrm>
            <a:off x="10770480" y="3907080"/>
            <a:ext cx="5890680" cy="3506040"/>
          </a:xfrm>
          <a:prstGeom prst="rect">
            <a:avLst/>
          </a:prstGeom>
          <a:noFill/>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1"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42"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AT THE HACKATHON · LIMITS</a:t>
            </a:r>
            <a:endParaRPr lang="en-US" sz="1950" b="0" u="none" strike="noStrike">
              <a:solidFill>
                <a:srgbClr val="000000"/>
              </a:solidFill>
              <a:effectLst/>
              <a:uFillTx/>
              <a:latin typeface="Arial"/>
            </a:endParaRPr>
          </a:p>
        </p:txBody>
      </p:sp>
      <p:sp>
        <p:nvSpPr>
          <p:cNvPr id="343"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Three limits the paper states about itself</a:t>
            </a:r>
            <a:endParaRPr lang="en-US" sz="4650" b="0" u="none" strike="noStrike">
              <a:solidFill>
                <a:srgbClr val="000000"/>
              </a:solidFill>
              <a:effectLst/>
              <a:uFillTx/>
              <a:latin typeface="Arial"/>
            </a:endParaRPr>
          </a:p>
        </p:txBody>
      </p:sp>
      <p:sp>
        <p:nvSpPr>
          <p:cNvPr id="344" name="Text 4"/>
          <p:cNvSpPr/>
          <p:nvPr/>
        </p:nvSpPr>
        <p:spPr>
          <a:xfrm>
            <a:off x="1238400" y="4460760"/>
            <a:ext cx="8721360" cy="35200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33360" indent="-333360" defTabSz="914400">
              <a:lnSpc>
                <a:spcPct val="140000"/>
              </a:lnSpc>
              <a:buClr>
                <a:srgbClr val="2B5187"/>
              </a:buClr>
              <a:buFont typeface="Arial"/>
              <a:buChar char="▪"/>
            </a:pPr>
            <a:r>
              <a:rPr lang="en-US" sz="3000" b="0" u="none" strike="noStrike">
                <a:solidFill>
                  <a:srgbClr val="343A40"/>
                </a:solidFill>
                <a:effectLst/>
                <a:uFillTx/>
                <a:latin typeface="Arial"/>
                <a:ea typeface="Arial"/>
              </a:rPr>
              <a:t>Not built for longitudinal analysis. Snapshots, not a time series.</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Data quality is inherited from the sources and deliberately not cleaned.</a:t>
            </a:r>
            <a:endParaRPr lang="en-US" sz="3000" b="0" u="none" strike="noStrike">
              <a:solidFill>
                <a:srgbClr val="000000"/>
              </a:solidFill>
              <a:effectLst/>
              <a:uFillTx/>
              <a:latin typeface="Arial"/>
            </a:endParaRPr>
          </a:p>
          <a:p>
            <a:pPr marL="333360" indent="-333360" defTabSz="914400">
              <a:lnSpc>
                <a:spcPct val="140000"/>
              </a:lnSpc>
              <a:spcBef>
                <a:spcPts val="799"/>
              </a:spcBef>
              <a:buClr>
                <a:srgbClr val="2B5187"/>
              </a:buClr>
              <a:buFont typeface="Arial"/>
              <a:buChar char="▪"/>
            </a:pPr>
            <a:r>
              <a:rPr lang="en-US" sz="3000" b="0" u="none" strike="noStrike">
                <a:solidFill>
                  <a:srgbClr val="343A40"/>
                </a:solidFill>
                <a:effectLst/>
                <a:uFillTx/>
                <a:latin typeface="Arial"/>
                <a:ea typeface="Arial"/>
              </a:rPr>
              <a:t>Cypher and the dataset landscape are both a real learning curve.</a:t>
            </a:r>
            <a:endParaRPr lang="en-US" sz="3000" b="0" u="none" strike="noStrike">
              <a:solidFill>
                <a:srgbClr val="000000"/>
              </a:solidFill>
              <a:effectLst/>
              <a:uFillTx/>
              <a:latin typeface="Arial"/>
            </a:endParaRPr>
          </a:p>
        </p:txBody>
      </p:sp>
      <p:sp>
        <p:nvSpPr>
          <p:cNvPr id="345" name="Text 9"/>
          <p:cNvSpPr/>
          <p:nvPr/>
        </p:nvSpPr>
        <p:spPr>
          <a:xfrm>
            <a:off x="11012400" y="7587720"/>
            <a:ext cx="5947560" cy="959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pPr>
            <a:r>
              <a:rPr lang="en-US" sz="2400" b="0" u="none" strike="noStrike">
                <a:solidFill>
                  <a:schemeClr val="dk1"/>
                </a:solidFill>
                <a:effectLst/>
                <a:uFillTx/>
                <a:latin typeface="Arial"/>
              </a:rPr>
              <a:t>What you are getting, and what you are not</a:t>
            </a:r>
            <a:endParaRPr lang="en-US" sz="2400" b="0" u="none" strike="noStrike">
              <a:solidFill>
                <a:srgbClr val="000000"/>
              </a:solidFill>
              <a:effectLst/>
              <a:uFillTx/>
              <a:latin typeface="Arial"/>
            </a:endParaRPr>
          </a:p>
        </p:txBody>
      </p:sp>
      <p:sp>
        <p:nvSpPr>
          <p:cNvPr id="346" name="Text 10"/>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pic>
        <p:nvPicPr>
          <p:cNvPr id="347" name="Picture 14" descr="f34_gaps.png"/>
          <p:cNvPicPr/>
          <p:nvPr/>
        </p:nvPicPr>
        <p:blipFill>
          <a:blip r:embed="rId3"/>
          <a:stretch/>
        </p:blipFill>
        <p:spPr>
          <a:xfrm>
            <a:off x="10775160" y="3907080"/>
            <a:ext cx="5881320" cy="3506040"/>
          </a:xfrm>
          <a:prstGeom prst="rect">
            <a:avLst/>
          </a:prstGeom>
          <a:noFill/>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49"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BE4228"/>
                </a:solidFill>
                <a:effectLst/>
                <a:uFillTx/>
                <a:latin typeface="Arial"/>
                <a:ea typeface="Arial"/>
              </a:rPr>
              <a:t>ACTION REQUIRED · WEEK 8 SETUP</a:t>
            </a:r>
            <a:endParaRPr lang="en-US" sz="1950" b="0" u="none" strike="noStrike">
              <a:solidFill>
                <a:srgbClr val="000000"/>
              </a:solidFill>
              <a:effectLst/>
              <a:uFillTx/>
              <a:latin typeface="Arial"/>
            </a:endParaRPr>
          </a:p>
        </p:txBody>
      </p:sp>
      <p:sp>
        <p:nvSpPr>
          <p:cNvPr id="350"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Getting to the database</a:t>
            </a:r>
            <a:endParaRPr lang="en-US" sz="4650" b="0" u="none" strike="noStrike">
              <a:solidFill>
                <a:srgbClr val="000000"/>
              </a:solidFill>
              <a:effectLst/>
              <a:uFillTx/>
              <a:latin typeface="Arial"/>
            </a:endParaRPr>
          </a:p>
        </p:txBody>
      </p:sp>
      <p:sp>
        <p:nvSpPr>
          <p:cNvPr id="351" name="Shape 3"/>
          <p:cNvSpPr/>
          <p:nvPr/>
        </p:nvSpPr>
        <p:spPr>
          <a:xfrm>
            <a:off x="1238400" y="4352040"/>
            <a:ext cx="571320" cy="571320"/>
          </a:xfrm>
          <a:prstGeom prst="roundRect">
            <a:avLst>
              <a:gd name="adj" fmla="val 13333"/>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52" name="Text 4"/>
          <p:cNvSpPr/>
          <p:nvPr/>
        </p:nvSpPr>
        <p:spPr>
          <a:xfrm>
            <a:off x="1200240" y="4352040"/>
            <a:ext cx="647280" cy="609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spAutoFit/>
          </a:bodyPr>
          <a:lstStyle/>
          <a:p>
            <a:pPr algn="ctr" defTabSz="914400">
              <a:lnSpc>
                <a:spcPct val="100000"/>
              </a:lnSpc>
              <a:tabLst>
                <a:tab pos="0" algn="l"/>
              </a:tabLst>
            </a:pPr>
            <a:r>
              <a:rPr lang="en-US" sz="2250" b="0" u="none" strike="noStrike">
                <a:solidFill>
                  <a:srgbClr val="FFFFFF"/>
                </a:solidFill>
                <a:effectLst/>
                <a:uFillTx/>
                <a:latin typeface="Arial"/>
                <a:ea typeface="Arial"/>
              </a:rPr>
              <a:t>1</a:t>
            </a:r>
            <a:endParaRPr lang="en-US" sz="2250" b="0" u="none" strike="noStrike">
              <a:solidFill>
                <a:srgbClr val="000000"/>
              </a:solidFill>
              <a:effectLst/>
              <a:uFillTx/>
              <a:latin typeface="Arial"/>
            </a:endParaRPr>
          </a:p>
        </p:txBody>
      </p:sp>
      <p:sp>
        <p:nvSpPr>
          <p:cNvPr id="353" name="Text 5"/>
          <p:cNvSpPr/>
          <p:nvPr/>
        </p:nvSpPr>
        <p:spPr>
          <a:xfrm>
            <a:off x="2095560" y="4425120"/>
            <a:ext cx="15402600" cy="1115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3000" b="1" u="none" strike="noStrike">
                <a:solidFill>
                  <a:srgbClr val="212529"/>
                </a:solidFill>
                <a:effectLst/>
                <a:uFillTx/>
                <a:latin typeface="Arial"/>
                <a:ea typeface="Arial"/>
              </a:rPr>
              <a:t>Open </a:t>
            </a:r>
            <a:r>
              <a:rPr lang="en-US" sz="3000" b="1" u="none" strike="noStrike">
                <a:solidFill>
                  <a:srgbClr val="212529"/>
                </a:solidFill>
                <a:effectLst/>
                <a:uFillTx/>
                <a:latin typeface="Roboto Mono"/>
                <a:ea typeface="Arial"/>
              </a:rPr>
              <a:t>iyp.iijlab.net/iyp/browser/</a:t>
            </a:r>
            <a:r>
              <a:rPr lang="en-US" sz="3000" b="1" u="none" strike="noStrike">
                <a:solidFill>
                  <a:srgbClr val="212529"/>
                </a:solidFill>
                <a:effectLst/>
                <a:uFillTx/>
                <a:latin typeface="Arial"/>
                <a:ea typeface="Arial"/>
              </a:rPr>
              <a:t> in a browser.</a:t>
            </a:r>
            <a:endParaRPr lang="en-US" sz="3000" b="0" u="none" strike="noStrike">
              <a:solidFill>
                <a:srgbClr val="000000"/>
              </a:solidFill>
              <a:effectLst/>
              <a:uFillTx/>
              <a:latin typeface="Arial"/>
            </a:endParaRPr>
          </a:p>
        </p:txBody>
      </p:sp>
      <p:sp>
        <p:nvSpPr>
          <p:cNvPr id="354" name="Shape 6"/>
          <p:cNvSpPr/>
          <p:nvPr/>
        </p:nvSpPr>
        <p:spPr>
          <a:xfrm>
            <a:off x="1238400" y="5613840"/>
            <a:ext cx="571320" cy="571320"/>
          </a:xfrm>
          <a:prstGeom prst="roundRect">
            <a:avLst>
              <a:gd name="adj" fmla="val 13333"/>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55" name="Text 7"/>
          <p:cNvSpPr/>
          <p:nvPr/>
        </p:nvSpPr>
        <p:spPr>
          <a:xfrm>
            <a:off x="1200240" y="5613840"/>
            <a:ext cx="647280" cy="609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spAutoFit/>
          </a:bodyPr>
          <a:lstStyle/>
          <a:p>
            <a:pPr algn="ctr" defTabSz="914400">
              <a:lnSpc>
                <a:spcPct val="100000"/>
              </a:lnSpc>
              <a:tabLst>
                <a:tab pos="0" algn="l"/>
              </a:tabLst>
            </a:pPr>
            <a:r>
              <a:rPr lang="en-US" sz="2250" b="0" u="none" strike="noStrike">
                <a:solidFill>
                  <a:srgbClr val="FFFFFF"/>
                </a:solidFill>
                <a:effectLst/>
                <a:uFillTx/>
                <a:latin typeface="Arial"/>
                <a:ea typeface="Arial"/>
              </a:rPr>
              <a:t>2</a:t>
            </a:r>
            <a:endParaRPr lang="en-US" sz="2250" b="0" u="none" strike="noStrike">
              <a:solidFill>
                <a:srgbClr val="000000"/>
              </a:solidFill>
              <a:effectLst/>
              <a:uFillTx/>
              <a:latin typeface="Arial"/>
            </a:endParaRPr>
          </a:p>
        </p:txBody>
      </p:sp>
      <p:sp>
        <p:nvSpPr>
          <p:cNvPr id="356" name="Text 8"/>
          <p:cNvSpPr/>
          <p:nvPr/>
        </p:nvSpPr>
        <p:spPr>
          <a:xfrm>
            <a:off x="2095560" y="5686920"/>
            <a:ext cx="15402600" cy="1115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3000" b="1" u="none" strike="noStrike">
                <a:solidFill>
                  <a:srgbClr val="212529"/>
                </a:solidFill>
                <a:effectLst/>
                <a:uFillTx/>
                <a:latin typeface="Arial"/>
                <a:ea typeface="Arial"/>
              </a:rPr>
              <a:t>Connect to </a:t>
            </a:r>
            <a:r>
              <a:rPr lang="en-US" sz="3000" b="1" u="none" strike="noStrike">
                <a:solidFill>
                  <a:srgbClr val="212529"/>
                </a:solidFill>
                <a:effectLst/>
                <a:uFillTx/>
                <a:latin typeface="Roboto Mono"/>
                <a:ea typeface="Arial"/>
              </a:rPr>
              <a:t>iyp-bolt.iijlab.net:443</a:t>
            </a:r>
            <a:r>
              <a:rPr lang="en-US" sz="3000" b="1" u="none" strike="noStrike">
                <a:solidFill>
                  <a:srgbClr val="212529"/>
                </a:solidFill>
                <a:effectLst/>
                <a:uFillTx/>
                <a:latin typeface="Arial"/>
                <a:ea typeface="Arial"/>
              </a:rPr>
              <a:t>. No username, no password.</a:t>
            </a:r>
            <a:endParaRPr lang="en-US" sz="3000" b="0" u="none" strike="noStrike">
              <a:solidFill>
                <a:srgbClr val="000000"/>
              </a:solidFill>
              <a:effectLst/>
              <a:uFillTx/>
              <a:latin typeface="Arial"/>
            </a:endParaRPr>
          </a:p>
        </p:txBody>
      </p:sp>
      <p:sp>
        <p:nvSpPr>
          <p:cNvPr id="357" name="Shape 9"/>
          <p:cNvSpPr/>
          <p:nvPr/>
        </p:nvSpPr>
        <p:spPr>
          <a:xfrm>
            <a:off x="1238400" y="6875640"/>
            <a:ext cx="571320" cy="571320"/>
          </a:xfrm>
          <a:prstGeom prst="roundRect">
            <a:avLst>
              <a:gd name="adj" fmla="val 13333"/>
            </a:avLst>
          </a:prstGeom>
          <a:solidFill>
            <a:srgbClr val="2B518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58" name="Text 10"/>
          <p:cNvSpPr/>
          <p:nvPr/>
        </p:nvSpPr>
        <p:spPr>
          <a:xfrm>
            <a:off x="1200240" y="6875640"/>
            <a:ext cx="647280" cy="60912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ctr">
            <a:spAutoFit/>
          </a:bodyPr>
          <a:lstStyle/>
          <a:p>
            <a:pPr algn="ctr" defTabSz="914400">
              <a:lnSpc>
                <a:spcPct val="100000"/>
              </a:lnSpc>
              <a:tabLst>
                <a:tab pos="0" algn="l"/>
              </a:tabLst>
            </a:pPr>
            <a:r>
              <a:rPr lang="en-US" sz="2250" b="0" u="none" strike="noStrike">
                <a:solidFill>
                  <a:srgbClr val="FFFFFF"/>
                </a:solidFill>
                <a:effectLst/>
                <a:uFillTx/>
                <a:latin typeface="Arial"/>
                <a:ea typeface="Arial"/>
              </a:rPr>
              <a:t>3</a:t>
            </a:r>
            <a:endParaRPr lang="en-US" sz="2250" b="0" u="none" strike="noStrike">
              <a:solidFill>
                <a:srgbClr val="000000"/>
              </a:solidFill>
              <a:effectLst/>
              <a:uFillTx/>
              <a:latin typeface="Arial"/>
            </a:endParaRPr>
          </a:p>
        </p:txBody>
      </p:sp>
      <p:sp>
        <p:nvSpPr>
          <p:cNvPr id="359" name="Text 11"/>
          <p:cNvSpPr/>
          <p:nvPr/>
        </p:nvSpPr>
        <p:spPr>
          <a:xfrm>
            <a:off x="2095560" y="6949080"/>
            <a:ext cx="15402600" cy="1115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3000" b="1" u="none" strike="noStrike">
                <a:solidFill>
                  <a:srgbClr val="212529"/>
                </a:solidFill>
                <a:effectLst/>
                <a:uFillTx/>
                <a:latin typeface="Arial"/>
                <a:ea typeface="Arial"/>
              </a:rPr>
              <a:t>Uncheck Connect result nodes in the settings cogwheel.</a:t>
            </a:r>
            <a:endParaRPr lang="en-US" sz="3000" b="0" u="none" strike="noStrike">
              <a:solidFill>
                <a:srgbClr val="000000"/>
              </a:solidFill>
              <a:effectLst/>
              <a:uFillTx/>
              <a:latin typeface="Arial"/>
            </a:endParaRPr>
          </a:p>
        </p:txBody>
      </p:sp>
      <p:sp>
        <p:nvSpPr>
          <p:cNvPr id="362" name="Text 14"/>
          <p:cNvSpPr/>
          <p:nvPr/>
        </p:nvSpPr>
        <p:spPr>
          <a:xfrm>
            <a:off x="2095560" y="8210880"/>
            <a:ext cx="15402600" cy="11152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35000"/>
              </a:lnSpc>
              <a:tabLst>
                <a:tab pos="0" algn="l"/>
              </a:tabLst>
            </a:pPr>
            <a:r>
              <a:rPr lang="en-US" sz="3000" b="1" u="none" strike="noStrike">
                <a:solidFill>
                  <a:srgbClr val="212529"/>
                </a:solidFill>
                <a:effectLst/>
                <a:uFillTx/>
                <a:latin typeface="Arial"/>
                <a:ea typeface="Arial"/>
              </a:rPr>
              <a:t>From Python: </a:t>
            </a:r>
            <a:r>
              <a:rPr lang="en-US" sz="3000" b="1" u="none" strike="noStrike">
                <a:solidFill>
                  <a:srgbClr val="212529"/>
                </a:solidFill>
                <a:effectLst/>
                <a:uFillTx/>
                <a:latin typeface="Roboto Mono"/>
                <a:ea typeface="Arial"/>
              </a:rPr>
              <a:t>neo4j://iyp-bolt.ihr.live:7687</a:t>
            </a:r>
            <a:r>
              <a:rPr lang="en-US" sz="3000" b="1" u="none" strike="noStrike">
                <a:solidFill>
                  <a:srgbClr val="212529"/>
                </a:solidFill>
                <a:effectLst/>
                <a:uFillTx/>
                <a:latin typeface="Arial"/>
                <a:ea typeface="Arial"/>
              </a:rPr>
              <a:t>, </a:t>
            </a:r>
            <a:r>
              <a:rPr lang="en-US" sz="3000" b="1" u="none" strike="noStrike">
                <a:solidFill>
                  <a:srgbClr val="212529"/>
                </a:solidFill>
                <a:effectLst/>
                <a:uFillTx/>
                <a:latin typeface="Roboto Mono"/>
                <a:ea typeface="Arial"/>
              </a:rPr>
              <a:t>auth=None</a:t>
            </a:r>
            <a:r>
              <a:rPr lang="en-US" sz="3000" b="1" u="none" strike="noStrike">
                <a:solidFill>
                  <a:srgbClr val="212529"/>
                </a:solidFill>
                <a:effectLst/>
                <a:uFillTx/>
                <a:latin typeface="Arial"/>
                <a:ea typeface="Arial"/>
              </a:rPr>
              <a:t>.</a:t>
            </a:r>
            <a:endParaRPr lang="en-US" sz="3000" b="0" u="none" strike="noStrike">
              <a:solidFill>
                <a:srgbClr val="000000"/>
              </a:solidFill>
              <a:effectLst/>
              <a:uFillTx/>
              <a:latin typeface="Arial"/>
            </a:endParaRPr>
          </a:p>
        </p:txBody>
      </p:sp>
      <p:sp>
        <p:nvSpPr>
          <p:cNvPr id="363" name="Text 15"/>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4"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65"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ASSIGNMENT 8 · DUE BEGINNING OF WEEK 9</a:t>
            </a:r>
            <a:endParaRPr lang="en-US" sz="1950" b="0" u="none" strike="noStrike">
              <a:solidFill>
                <a:srgbClr val="000000"/>
              </a:solidFill>
              <a:effectLst/>
              <a:uFillTx/>
              <a:latin typeface="Arial"/>
            </a:endParaRPr>
          </a:p>
        </p:txBody>
      </p:sp>
      <p:sp>
        <p:nvSpPr>
          <p:cNvPr id="366"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nids-iyp</a:t>
            </a:r>
            <a:endParaRPr lang="en-US" sz="4650" b="0" u="none" strike="noStrike">
              <a:solidFill>
                <a:srgbClr val="000000"/>
              </a:solidFill>
              <a:effectLst/>
              <a:uFillTx/>
              <a:latin typeface="Arial"/>
            </a:endParaRPr>
          </a:p>
        </p:txBody>
      </p:sp>
      <p:sp>
        <p:nvSpPr>
          <p:cNvPr id="367" name="Text 3"/>
          <p:cNvSpPr/>
          <p:nvPr/>
        </p:nvSpPr>
        <p:spPr>
          <a:xfrm>
            <a:off x="1238400" y="2246040"/>
            <a:ext cx="11085840" cy="11883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3000" b="0" u="none" strike="noStrike">
                <a:solidFill>
                  <a:srgbClr val="343A40"/>
                </a:solidFill>
                <a:effectLst/>
                <a:uFillTx/>
                <a:latin typeface="Arial"/>
                <a:ea typeface="Arial"/>
              </a:rPr>
              <a:t>Three tasks, nine questions, all inside the notebook. Each task re-asks a question you already answered the hard way.</a:t>
            </a:r>
            <a:endParaRPr lang="en-US" sz="3000" b="0" u="none" strike="noStrike">
              <a:solidFill>
                <a:srgbClr val="000000"/>
              </a:solidFill>
              <a:effectLst/>
              <a:uFillTx/>
              <a:latin typeface="Arial"/>
            </a:endParaRPr>
          </a:p>
        </p:txBody>
      </p:sp>
      <p:sp>
        <p:nvSpPr>
          <p:cNvPr id="368" name="Text 5"/>
          <p:cNvSpPr/>
          <p:nvPr/>
        </p:nvSpPr>
        <p:spPr>
          <a:xfrm>
            <a:off x="1238400" y="3599280"/>
            <a:ext cx="11242800" cy="45716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14280" indent="-314280" defTabSz="914400">
              <a:lnSpc>
                <a:spcPct val="135000"/>
              </a:lnSpc>
              <a:buClr>
                <a:srgbClr val="2B5187"/>
              </a:buClr>
              <a:buFont typeface="Arial"/>
              <a:buChar char="▪"/>
            </a:pPr>
            <a:r>
              <a:rPr lang="en-US" sz="3000" b="0" u="none" strike="noStrike">
                <a:solidFill>
                  <a:srgbClr val="343A40"/>
                </a:solidFill>
                <a:effectLst/>
                <a:uFillTx/>
                <a:latin typeface="Arial"/>
                <a:ea typeface="Arial"/>
              </a:rPr>
              <a:t>Task 1: AS names, ASRank, IXP membership and peering degree.</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Task 2: walk from an AS's address space to the domains hosted in it.</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Task 3: compare RPKI authorisations against what BGP actually shows.</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Answer all nine questions in the notebook markdown cells, then push.</a:t>
            </a:r>
            <a:endParaRPr lang="en-US" sz="3000" b="0" u="none" strike="noStrike">
              <a:solidFill>
                <a:srgbClr val="000000"/>
              </a:solidFill>
              <a:effectLst/>
              <a:uFillTx/>
              <a:latin typeface="Arial"/>
            </a:endParaRPr>
          </a:p>
        </p:txBody>
      </p:sp>
      <p:sp>
        <p:nvSpPr>
          <p:cNvPr id="369" name="Shape 12"/>
          <p:cNvSpPr/>
          <p:nvPr/>
        </p:nvSpPr>
        <p:spPr>
          <a:xfrm>
            <a:off x="12573000" y="2246040"/>
            <a:ext cx="4476240" cy="7278480"/>
          </a:xfrm>
          <a:prstGeom prst="roundRect">
            <a:avLst>
              <a:gd name="adj" fmla="val 2128"/>
            </a:avLst>
          </a:prstGeom>
          <a:solidFill>
            <a:srgbClr val="F8F9F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70" name="Text 13"/>
          <p:cNvSpPr/>
          <p:nvPr/>
        </p:nvSpPr>
        <p:spPr>
          <a:xfrm>
            <a:off x="12934800" y="2608200"/>
            <a:ext cx="412776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2B5187"/>
                </a:solidFill>
                <a:effectLst/>
                <a:uFillTx/>
                <a:latin typeface="Arial"/>
                <a:ea typeface="Arial"/>
              </a:rPr>
              <a:t>MODULE MILESTONE</a:t>
            </a:r>
            <a:endParaRPr lang="en-US" sz="1800" b="0" u="none" strike="noStrike">
              <a:solidFill>
                <a:srgbClr val="000000"/>
              </a:solidFill>
              <a:effectLst/>
              <a:uFillTx/>
              <a:latin typeface="Arial"/>
            </a:endParaRPr>
          </a:p>
        </p:txBody>
      </p:sp>
      <p:sp>
        <p:nvSpPr>
          <p:cNvPr id="371" name="Text 14"/>
          <p:cNvSpPr/>
          <p:nvPr/>
        </p:nvSpPr>
        <p:spPr>
          <a:xfrm>
            <a:off x="12934800" y="3008160"/>
            <a:ext cx="3864960" cy="1462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2400" b="0" u="none" strike="noStrike">
                <a:solidFill>
                  <a:srgbClr val="343A40"/>
                </a:solidFill>
                <a:effectLst/>
                <a:uFillTx/>
                <a:latin typeface="Arial"/>
                <a:ea typeface="Arial"/>
              </a:rPr>
              <a:t>Your first worked example of querying a fused dataset.</a:t>
            </a:r>
            <a:endParaRPr lang="en-US" sz="2400" b="0" u="none" strike="noStrike">
              <a:solidFill>
                <a:srgbClr val="000000"/>
              </a:solidFill>
              <a:effectLst/>
              <a:uFillTx/>
              <a:latin typeface="Arial"/>
            </a:endParaRPr>
          </a:p>
        </p:txBody>
      </p:sp>
      <p:sp>
        <p:nvSpPr>
          <p:cNvPr id="372" name="Shape 15"/>
          <p:cNvSpPr/>
          <p:nvPr/>
        </p:nvSpPr>
        <p:spPr>
          <a:xfrm>
            <a:off x="12934800" y="4617360"/>
            <a:ext cx="3752640" cy="9000"/>
          </a:xfrm>
          <a:prstGeom prst="rect">
            <a:avLst/>
          </a:prstGeom>
          <a:solidFill>
            <a:srgbClr val="DEE2E6"/>
          </a:solidFill>
          <a:ln w="0">
            <a:noFill/>
          </a:ln>
        </p:spPr>
        <p:style>
          <a:lnRef idx="0">
            <a:scrgbClr r="0" g="0" b="0"/>
          </a:lnRef>
          <a:fillRef idx="0">
            <a:scrgbClr r="0" g="0" b="0"/>
          </a:fillRef>
          <a:effectRef idx="0">
            <a:scrgbClr r="0" g="0" b="0"/>
          </a:effectRef>
          <a:fontRef idx="minor"/>
        </p:style>
        <p:txBody>
          <a:bodyPr lIns="90000" tIns="-35640" rIns="90000" bIns="-35640" anchor="t">
            <a:noAutofit/>
          </a:bodyPr>
          <a:lstStyle/>
          <a:p>
            <a:endParaRPr lang="en-US" sz="1800" b="0" u="none" strike="noStrike">
              <a:solidFill>
                <a:schemeClr val="dk1"/>
              </a:solidFill>
              <a:effectLst/>
              <a:uFillTx/>
              <a:latin typeface="Calibri"/>
            </a:endParaRPr>
          </a:p>
        </p:txBody>
      </p:sp>
      <p:sp>
        <p:nvSpPr>
          <p:cNvPr id="373" name="Text 16"/>
          <p:cNvSpPr/>
          <p:nvPr/>
        </p:nvSpPr>
        <p:spPr>
          <a:xfrm>
            <a:off x="12934800" y="4773240"/>
            <a:ext cx="4127760" cy="3045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1" u="none" strike="noStrike" spc="181">
                <a:solidFill>
                  <a:srgbClr val="6C757D"/>
                </a:solidFill>
                <a:effectLst/>
                <a:uFillTx/>
                <a:latin typeface="Arial"/>
                <a:ea typeface="Arial"/>
              </a:rPr>
              <a:t>REPOSITORY</a:t>
            </a:r>
            <a:endParaRPr lang="en-US" sz="1800" b="0" u="none" strike="noStrike">
              <a:solidFill>
                <a:srgbClr val="000000"/>
              </a:solidFill>
              <a:effectLst/>
              <a:uFillTx/>
              <a:latin typeface="Arial"/>
            </a:endParaRPr>
          </a:p>
        </p:txBody>
      </p:sp>
      <p:sp>
        <p:nvSpPr>
          <p:cNvPr id="374" name="Text 17"/>
          <p:cNvSpPr/>
          <p:nvPr/>
        </p:nvSpPr>
        <p:spPr>
          <a:xfrm>
            <a:off x="12934800" y="5132880"/>
            <a:ext cx="3864960" cy="8226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0000"/>
              </a:lnSpc>
              <a:tabLst>
                <a:tab pos="0" algn="l"/>
              </a:tabLst>
            </a:pPr>
            <a:r>
              <a:rPr lang="en-US" sz="2200" b="0" u="none" strike="noStrike">
                <a:solidFill>
                  <a:srgbClr val="212529"/>
                </a:solidFill>
                <a:effectLst/>
                <a:uFillTx/>
                <a:latin typeface="Roboto Mono"/>
                <a:ea typeface="Arial"/>
              </a:rPr>
              <a:t>github.com/CAIDA/nids-iyp</a:t>
            </a:r>
            <a:endParaRPr lang="en-US" sz="2200" b="0" u="none" strike="noStrike">
              <a:solidFill>
                <a:srgbClr val="000000"/>
              </a:solidFill>
              <a:effectLst/>
              <a:uFillTx/>
              <a:latin typeface="Arial"/>
            </a:endParaRPr>
          </a:p>
        </p:txBody>
      </p:sp>
      <p:sp>
        <p:nvSpPr>
          <p:cNvPr id="375" name="Text 18"/>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6" name="Text 0"/>
          <p:cNvSpPr/>
          <p:nvPr/>
        </p:nvSpPr>
        <p:spPr>
          <a:xfrm>
            <a:off x="13031640" y="876240"/>
            <a:ext cx="441972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spc="108">
                <a:solidFill>
                  <a:srgbClr val="212529"/>
                </a:solidFill>
                <a:effectLst/>
                <a:uFillTx/>
                <a:latin typeface="Arial"/>
                <a:ea typeface="Arial"/>
              </a:rPr>
              <a:t>WEEK 8 · BUILDING BLOCK 8 / 10</a:t>
            </a:r>
            <a:endParaRPr lang="en-US" sz="1800" b="0" u="none" strike="noStrike">
              <a:solidFill>
                <a:srgbClr val="000000"/>
              </a:solidFill>
              <a:effectLst/>
              <a:uFillTx/>
              <a:latin typeface="Arial"/>
            </a:endParaRPr>
          </a:p>
        </p:txBody>
      </p:sp>
      <p:sp>
        <p:nvSpPr>
          <p:cNvPr id="377" name="Text 1"/>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BEFORE NEXT WEEK</a:t>
            </a:r>
            <a:endParaRPr lang="en-US" sz="1950" b="0" u="none" strike="noStrike">
              <a:solidFill>
                <a:srgbClr val="000000"/>
              </a:solidFill>
              <a:effectLst/>
              <a:uFillTx/>
              <a:latin typeface="Arial"/>
            </a:endParaRPr>
          </a:p>
        </p:txBody>
      </p:sp>
      <p:sp>
        <p:nvSpPr>
          <p:cNvPr id="378" name="Text 2"/>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Before next week</a:t>
            </a:r>
            <a:endParaRPr lang="en-US" sz="4650" b="0" u="none" strike="noStrike">
              <a:solidFill>
                <a:srgbClr val="000000"/>
              </a:solidFill>
              <a:effectLst/>
              <a:uFillTx/>
              <a:latin typeface="Arial"/>
            </a:endParaRPr>
          </a:p>
        </p:txBody>
      </p:sp>
      <p:sp>
        <p:nvSpPr>
          <p:cNvPr id="379" name="Text 4"/>
          <p:cNvSpPr/>
          <p:nvPr/>
        </p:nvSpPr>
        <p:spPr>
          <a:xfrm>
            <a:off x="1238400" y="2246040"/>
            <a:ext cx="11242800" cy="402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marL="314280" indent="-314280" defTabSz="914400">
              <a:lnSpc>
                <a:spcPct val="135000"/>
              </a:lnSpc>
              <a:buClr>
                <a:srgbClr val="2B5187"/>
              </a:buClr>
              <a:buFont typeface="Arial"/>
              <a:buChar char="▪"/>
            </a:pPr>
            <a:r>
              <a:rPr lang="en-US" sz="3000" b="0" u="none" strike="noStrike">
                <a:solidFill>
                  <a:srgbClr val="343A40"/>
                </a:solidFill>
                <a:effectLst/>
                <a:uFillTx/>
                <a:latin typeface="Arial"/>
                <a:ea typeface="Arial"/>
              </a:rPr>
              <a:t>Finish the three tasks and push the completed notebook.</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Skim the IYP tutorial pages on data and on querying.</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Draft one IYP query aimed at your own hackathon idea.</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Bring that query to Thursday's session.</a:t>
            </a:r>
            <a:endParaRPr lang="en-US" sz="3000" b="0" u="none" strike="noStrike">
              <a:solidFill>
                <a:srgbClr val="000000"/>
              </a:solidFill>
              <a:effectLst/>
              <a:uFillTx/>
              <a:latin typeface="Arial"/>
            </a:endParaRPr>
          </a:p>
          <a:p>
            <a:pPr marL="314280" indent="-314280" defTabSz="914400">
              <a:lnSpc>
                <a:spcPct val="135000"/>
              </a:lnSpc>
              <a:spcBef>
                <a:spcPts val="799"/>
              </a:spcBef>
              <a:buClr>
                <a:srgbClr val="2B5187"/>
              </a:buClr>
              <a:buFont typeface="Arial"/>
              <a:buChar char="▪"/>
            </a:pPr>
            <a:r>
              <a:rPr lang="en-US" sz="3000" b="0" u="none" strike="noStrike">
                <a:solidFill>
                  <a:srgbClr val="343A40"/>
                </a:solidFill>
                <a:effectLst/>
                <a:uFillTx/>
                <a:latin typeface="Arial"/>
                <a:ea typeface="Arial"/>
              </a:rPr>
              <a:t>Next week's guest lecture is a good place to sharpen the idea.</a:t>
            </a:r>
            <a:endParaRPr lang="en-US" sz="3000" b="0" u="none" strike="noStrike">
              <a:solidFill>
                <a:srgbClr val="000000"/>
              </a:solidFill>
              <a:effectLst/>
              <a:uFillTx/>
              <a:latin typeface="Arial"/>
            </a:endParaRPr>
          </a:p>
        </p:txBody>
      </p:sp>
      <p:sp>
        <p:nvSpPr>
          <p:cNvPr id="380" name="Shape 13"/>
          <p:cNvSpPr/>
          <p:nvPr/>
        </p:nvSpPr>
        <p:spPr>
          <a:xfrm>
            <a:off x="12573000" y="2246040"/>
            <a:ext cx="4476240" cy="3442320"/>
          </a:xfrm>
          <a:prstGeom prst="roundRect">
            <a:avLst>
              <a:gd name="adj" fmla="val 4744"/>
            </a:avLst>
          </a:prstGeom>
          <a:solidFill>
            <a:srgbClr val="F8F9FA"/>
          </a:solidFill>
          <a:ln w="0">
            <a:noFill/>
          </a:ln>
        </p:spPr>
        <p:style>
          <a:lnRef idx="0">
            <a:scrgbClr r="0" g="0" b="0"/>
          </a:lnRef>
          <a:fillRef idx="0">
            <a:scrgbClr r="0" g="0" b="0"/>
          </a:fillRef>
          <a:effectRef idx="0">
            <a:scrgbClr r="0" g="0" b="0"/>
          </a:effectRef>
          <a:fontRef idx="minor"/>
        </p:style>
        <p:txBody>
          <a:bodyPr lIns="324000" tIns="324000" rIns="324000" bIns="324000" anchor="t">
            <a:spAutoFit/>
          </a:bodyPr>
          <a:lstStyle/>
          <a:p>
            <a:pPr defTabSz="914400">
              <a:lnSpc>
                <a:spcPct val="100000"/>
              </a:lnSpc>
              <a:tabLst>
                <a:tab pos="0" algn="l"/>
              </a:tabLst>
            </a:pPr>
            <a:r>
              <a:rPr lang="en-US" sz="2200" b="1" u="none" strike="noStrike" spc="181">
                <a:solidFill>
                  <a:srgbClr val="2B5187"/>
                </a:solidFill>
                <a:effectLst/>
                <a:uFillTx/>
                <a:latin typeface="Arial"/>
                <a:ea typeface="Arial"/>
              </a:rPr>
              <a:t>OPTIONAL BACKGROUND</a:t>
            </a:r>
            <a:endParaRPr lang="en-US" sz="2200" b="0" u="none" strike="noStrike">
              <a:solidFill>
                <a:srgbClr val="000000"/>
              </a:solidFill>
              <a:effectLst/>
              <a:uFillTx/>
              <a:latin typeface="Arial"/>
            </a:endParaRPr>
          </a:p>
          <a:p>
            <a:pPr defTabSz="914400">
              <a:lnSpc>
                <a:spcPct val="140000"/>
              </a:lnSpc>
              <a:spcBef>
                <a:spcPts val="601"/>
              </a:spcBef>
              <a:tabLst>
                <a:tab pos="0" algn="l"/>
              </a:tabLst>
            </a:pPr>
            <a:r>
              <a:rPr lang="en-US" sz="2400" b="0" u="none" strike="noStrike">
                <a:solidFill>
                  <a:srgbClr val="343A40"/>
                </a:solidFill>
                <a:effectLst/>
                <a:uFillTx/>
                <a:latin typeface="Arial"/>
                <a:ea typeface="Arial"/>
              </a:rPr>
              <a:t>Fontugne et al., The Wisdom of the Measurement Crowd, ACM IMC 2024.</a:t>
            </a:r>
            <a:endParaRPr lang="en-US" sz="2400" b="0" u="none" strike="noStrike">
              <a:solidFill>
                <a:srgbClr val="000000"/>
              </a:solidFill>
              <a:effectLst/>
              <a:uFillTx/>
              <a:latin typeface="Arial"/>
            </a:endParaRPr>
          </a:p>
        </p:txBody>
      </p:sp>
      <p:sp>
        <p:nvSpPr>
          <p:cNvPr id="381" name="Shape 16"/>
          <p:cNvSpPr/>
          <p:nvPr/>
        </p:nvSpPr>
        <p:spPr>
          <a:xfrm>
            <a:off x="12573000" y="5949360"/>
            <a:ext cx="4476240" cy="1096920"/>
          </a:xfrm>
          <a:prstGeom prst="roundRect">
            <a:avLst>
              <a:gd name="adj" fmla="val 7692"/>
            </a:avLst>
          </a:prstGeom>
          <a:noFill/>
          <a:ln w="6350">
            <a:solidFill>
              <a:srgbClr val="DEE2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Calibri"/>
            </a:endParaRPr>
          </a:p>
        </p:txBody>
      </p:sp>
      <p:sp>
        <p:nvSpPr>
          <p:cNvPr id="382" name="Text 17"/>
          <p:cNvSpPr/>
          <p:nvPr/>
        </p:nvSpPr>
        <p:spPr>
          <a:xfrm>
            <a:off x="12903120" y="6113880"/>
            <a:ext cx="4197600" cy="383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000" b="1" u="none" strike="noStrike">
                <a:solidFill>
                  <a:srgbClr val="212529"/>
                </a:solidFill>
                <a:effectLst/>
                <a:uFillTx/>
                <a:latin typeface="Arial"/>
                <a:ea typeface="Arial"/>
              </a:rPr>
              <a:t>Questions </a:t>
            </a:r>
            <a:r>
              <a:rPr lang="en-US" sz="2000" b="0" u="none" strike="noStrike">
                <a:solidFill>
                  <a:srgbClr val="212529"/>
                </a:solidFill>
                <a:effectLst/>
                <a:uFillTx/>
                <a:latin typeface="Arial"/>
                <a:ea typeface="Arial"/>
              </a:rPr>
              <a:t>Mattermost (fastest)</a:t>
            </a:r>
            <a:endParaRPr lang="en-US" sz="2000" b="0" u="none" strike="noStrike">
              <a:solidFill>
                <a:srgbClr val="000000"/>
              </a:solidFill>
              <a:effectLst/>
              <a:uFillTx/>
              <a:latin typeface="Arial"/>
            </a:endParaRPr>
          </a:p>
        </p:txBody>
      </p:sp>
      <p:sp>
        <p:nvSpPr>
          <p:cNvPr id="383" name="Text 18"/>
          <p:cNvSpPr/>
          <p:nvPr/>
        </p:nvSpPr>
        <p:spPr>
          <a:xfrm>
            <a:off x="12903120" y="6534720"/>
            <a:ext cx="4197600" cy="3837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2000" b="0" u="sng" strike="noStrike">
                <a:solidFill>
                  <a:srgbClr val="0563C1"/>
                </a:solidFill>
                <a:effectLst/>
                <a:uFillTx/>
                <a:latin typeface="Arial"/>
                <a:ea typeface="Arial"/>
                <a:hlinkClick r:id="rId3"/>
              </a:rPr>
              <a:t>training-program-info@caida.org</a:t>
            </a:r>
            <a:endParaRPr lang="en-US" sz="2000" b="0" u="none" strike="noStrike">
              <a:solidFill>
                <a:srgbClr val="000000"/>
              </a:solidFill>
              <a:effectLst/>
              <a:uFillTx/>
              <a:latin typeface="Arial"/>
            </a:endParaRPr>
          </a:p>
        </p:txBody>
      </p:sp>
      <p:sp>
        <p:nvSpPr>
          <p:cNvPr id="384" name="Text 19"/>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212529"/>
        </a:solidFill>
        <a:effectLst/>
      </p:bgPr>
    </p:bg>
    <p:spTree>
      <p:nvGrpSpPr>
        <p:cNvPr id="1" name=""/>
        <p:cNvGrpSpPr/>
        <p:nvPr/>
      </p:nvGrpSpPr>
      <p:grpSpPr>
        <a:xfrm>
          <a:off x="0" y="0"/>
          <a:ext cx="0" cy="0"/>
          <a:chOff x="0" y="0"/>
          <a:chExt cx="0" cy="0"/>
        </a:xfrm>
      </p:grpSpPr>
      <p:sp>
        <p:nvSpPr>
          <p:cNvPr id="450" name="Text 0"/>
          <p:cNvSpPr/>
          <p:nvPr/>
        </p:nvSpPr>
        <p:spPr>
          <a:xfrm>
            <a:off x="1238400" y="2190600"/>
            <a:ext cx="10267560" cy="3171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950" b="1" u="none" strike="noStrike" spc="351">
                <a:solidFill>
                  <a:srgbClr val="6C757D"/>
                </a:solidFill>
                <a:effectLst/>
                <a:uFillTx/>
                <a:latin typeface="Arial"/>
                <a:ea typeface="Arial"/>
              </a:rPr>
              <a:t>APPENDIX · FOR SELF-STUDY</a:t>
            </a:r>
            <a:endParaRPr lang="en-US" sz="1950" b="0" u="none" strike="noStrike">
              <a:solidFill>
                <a:srgbClr val="FFFFFF"/>
              </a:solidFill>
              <a:effectLst/>
              <a:uFillTx/>
              <a:latin typeface="Arial"/>
            </a:endParaRPr>
          </a:p>
        </p:txBody>
      </p:sp>
      <p:sp>
        <p:nvSpPr>
          <p:cNvPr id="451" name="Text 1"/>
          <p:cNvSpPr/>
          <p:nvPr/>
        </p:nvSpPr>
        <p:spPr>
          <a:xfrm>
            <a:off x="1238400" y="2565360"/>
            <a:ext cx="10267560" cy="18378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90000"/>
              </a:lnSpc>
              <a:tabLst>
                <a:tab pos="0" algn="l"/>
              </a:tabLst>
            </a:pPr>
            <a:r>
              <a:rPr lang="en-US" sz="15750" b="0" u="none" strike="noStrike" spc="-315">
                <a:solidFill>
                  <a:srgbClr val="A9C2E4"/>
                </a:solidFill>
                <a:effectLst/>
                <a:uFillTx/>
                <a:latin typeface="Arial"/>
                <a:ea typeface="Arial"/>
              </a:rPr>
              <a:t>A</a:t>
            </a:r>
            <a:endParaRPr lang="en-US" sz="15750" b="0" u="none" strike="noStrike">
              <a:solidFill>
                <a:srgbClr val="FFFFFF"/>
              </a:solidFill>
              <a:effectLst/>
              <a:uFillTx/>
              <a:latin typeface="Arial"/>
            </a:endParaRPr>
          </a:p>
        </p:txBody>
      </p:sp>
      <p:sp>
        <p:nvSpPr>
          <p:cNvPr id="452" name="Text 2"/>
          <p:cNvSpPr/>
          <p:nvPr/>
        </p:nvSpPr>
        <p:spPr>
          <a:xfrm>
            <a:off x="1238400" y="4613400"/>
            <a:ext cx="9614160" cy="1317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5000"/>
              </a:lnSpc>
              <a:tabLst>
                <a:tab pos="0" algn="l"/>
              </a:tabLst>
            </a:pPr>
            <a:r>
              <a:rPr lang="en-US" sz="4800" b="0" u="none" strike="noStrike" spc="-48">
                <a:solidFill>
                  <a:srgbClr val="FFFFFF"/>
                </a:solidFill>
                <a:effectLst/>
                <a:uFillTx/>
                <a:latin typeface="Arial"/>
                <a:ea typeface="Arial"/>
              </a:rPr>
              <a:t>Appendix</a:t>
            </a:r>
            <a:endParaRPr lang="en-US" sz="4800" b="0" u="none" strike="noStrike">
              <a:solidFill>
                <a:srgbClr val="FFFFFF"/>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4" name="Text 0"/>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APPENDIX · FINDING YOUR WAY</a:t>
            </a:r>
            <a:endParaRPr lang="en-US" sz="1950" b="0" u="none" strike="noStrike">
              <a:solidFill>
                <a:srgbClr val="000000"/>
              </a:solidFill>
              <a:effectLst/>
              <a:uFillTx/>
              <a:latin typeface="Arial"/>
            </a:endParaRPr>
          </a:p>
        </p:txBody>
      </p:sp>
      <p:sp>
        <p:nvSpPr>
          <p:cNvPr id="455" name="Text 1"/>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 relationship type you have not met yet</a:t>
            </a:r>
            <a:endParaRPr lang="en-US" sz="4650" b="0" u="none" strike="noStrike">
              <a:solidFill>
                <a:srgbClr val="000000"/>
              </a:solidFill>
              <a:effectLst/>
              <a:uFillTx/>
              <a:latin typeface="Arial"/>
            </a:endParaRPr>
          </a:p>
        </p:txBody>
      </p:sp>
      <p:sp>
        <p:nvSpPr>
          <p:cNvPr id="456" name="Text 2"/>
          <p:cNvSpPr/>
          <p:nvPr/>
        </p:nvSpPr>
        <p:spPr>
          <a:xfrm>
            <a:off x="1238400" y="4997880"/>
            <a:ext cx="9516240" cy="2514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2600" b="0" u="none" strike="noStrike">
                <a:solidFill>
                  <a:srgbClr val="343A40"/>
                </a:solidFill>
                <a:effectLst/>
                <a:uFillTx/>
                <a:latin typeface="Arial"/>
                <a:ea typeface="Arial"/>
              </a:rPr>
              <a:t>The nine labels here are a small corner of the ontology. The full reference is the documentation folder of the IYP repository on GitHub, one page per node type and relationship type.</a:t>
            </a:r>
            <a:endParaRPr lang="en-US" sz="2600" b="0" u="none" strike="noStrike">
              <a:solidFill>
                <a:srgbClr val="000000"/>
              </a:solidFill>
              <a:effectLst/>
              <a:uFillTx/>
              <a:latin typeface="Arial"/>
            </a:endParaRPr>
          </a:p>
          <a:p>
            <a:pPr defTabSz="914400">
              <a:lnSpc>
                <a:spcPct val="145000"/>
              </a:lnSpc>
              <a:spcBef>
                <a:spcPts val="799"/>
              </a:spcBef>
              <a:tabLst>
                <a:tab pos="0" algn="l"/>
              </a:tabLst>
            </a:pPr>
            <a:r>
              <a:rPr lang="en-US" sz="2600" b="0" u="none" strike="noStrike">
                <a:solidFill>
                  <a:srgbClr val="343A40"/>
                </a:solidFill>
                <a:effectLst/>
                <a:uFillTx/>
                <a:latin typeface="Arial"/>
                <a:ea typeface="Arial"/>
              </a:rPr>
              <a:t>Faster in practice: the console's database icon lists every type in the loaded snapshot, with a real example on click. That is the live schema, so it cannot drift from the data.</a:t>
            </a:r>
            <a:endParaRPr lang="en-US" sz="2600" b="0" u="none" strike="noStrike">
              <a:solidFill>
                <a:srgbClr val="000000"/>
              </a:solidFill>
              <a:effectLst/>
              <a:uFillTx/>
              <a:latin typeface="Arial"/>
            </a:endParaRPr>
          </a:p>
        </p:txBody>
      </p:sp>
      <p:sp>
        <p:nvSpPr>
          <p:cNvPr id="457" name="Text 7"/>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8" name="Text 0"/>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APPENDIX · WHAT TASKS 1 AND 2 ASK</a:t>
            </a:r>
            <a:endParaRPr lang="en-US" sz="1950" b="0" u="none" strike="noStrike">
              <a:solidFill>
                <a:srgbClr val="000000"/>
              </a:solidFill>
              <a:effectLst/>
              <a:uFillTx/>
              <a:latin typeface="Arial"/>
            </a:endParaRPr>
          </a:p>
        </p:txBody>
      </p:sp>
      <p:sp>
        <p:nvSpPr>
          <p:cNvPr id="459" name="Text 1"/>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Disagreement, then the join you did not write</a:t>
            </a:r>
            <a:endParaRPr lang="en-US" sz="4650" b="0" u="none" strike="noStrike">
              <a:solidFill>
                <a:srgbClr val="000000"/>
              </a:solidFill>
              <a:effectLst/>
              <a:uFillTx/>
              <a:latin typeface="Arial"/>
            </a:endParaRPr>
          </a:p>
        </p:txBody>
      </p:sp>
      <p:sp>
        <p:nvSpPr>
          <p:cNvPr id="460" name="Text 2"/>
          <p:cNvSpPr/>
          <p:nvPr/>
        </p:nvSpPr>
        <p:spPr>
          <a:xfrm>
            <a:off x="1238400" y="4997880"/>
            <a:ext cx="9516240" cy="2514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2600" b="0" u="none" strike="noStrike">
                <a:solidFill>
                  <a:srgbClr val="343A40"/>
                </a:solidFill>
                <a:effectLst/>
                <a:uFillTx/>
                <a:latin typeface="Arial"/>
                <a:ea typeface="Arial"/>
              </a:rPr>
              <a:t>Task 1 is about disagreement. Resolve one name across three sources, then relate peering degree, IXP membership and ASRank. What does ASRank measure, and do the three signals move together?</a:t>
            </a:r>
            <a:endParaRPr lang="en-US" sz="2600" b="0" u="none" strike="noStrike">
              <a:solidFill>
                <a:srgbClr val="000000"/>
              </a:solidFill>
              <a:effectLst/>
              <a:uFillTx/>
              <a:latin typeface="Arial"/>
            </a:endParaRPr>
          </a:p>
          <a:p>
            <a:pPr defTabSz="914400">
              <a:lnSpc>
                <a:spcPct val="145000"/>
              </a:lnSpc>
              <a:spcBef>
                <a:spcPts val="799"/>
              </a:spcBef>
              <a:tabLst>
                <a:tab pos="0" algn="l"/>
              </a:tabLst>
            </a:pPr>
            <a:r>
              <a:rPr lang="en-US" sz="2600" b="0" u="none" strike="noStrike">
                <a:solidFill>
                  <a:srgbClr val="343A40"/>
                </a:solidFill>
                <a:effectLst/>
                <a:uFillTx/>
                <a:latin typeface="Arial"/>
                <a:ea typeface="Arial"/>
              </a:rPr>
              <a:t>Task 2 is about the join you did not have to write. Walk from announced prefixes to the hostnames inside them, then ask what you gave up by not fetching the two datasets yourself.</a:t>
            </a:r>
            <a:endParaRPr lang="en-US" sz="2600" b="0" u="none" strike="noStrike">
              <a:solidFill>
                <a:srgbClr val="000000"/>
              </a:solidFill>
              <a:effectLst/>
              <a:uFillTx/>
              <a:latin typeface="Arial"/>
            </a:endParaRPr>
          </a:p>
        </p:txBody>
      </p:sp>
      <p:sp>
        <p:nvSpPr>
          <p:cNvPr id="461" name="Text 7"/>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2" name="Text 0"/>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APPENDIX · WHAT TASK 3 ASKS</a:t>
            </a:r>
            <a:endParaRPr lang="en-US" sz="1950" b="0" u="none" strike="noStrike">
              <a:solidFill>
                <a:srgbClr val="000000"/>
              </a:solidFill>
              <a:effectLst/>
              <a:uFillTx/>
              <a:latin typeface="Arial"/>
            </a:endParaRPr>
          </a:p>
        </p:txBody>
      </p:sp>
      <p:sp>
        <p:nvSpPr>
          <p:cNvPr id="463" name="Text 1"/>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An RPKI Invalid tag is not proof of a hijack</a:t>
            </a:r>
            <a:endParaRPr lang="en-US" sz="4650" b="0" u="none" strike="noStrike">
              <a:solidFill>
                <a:srgbClr val="000000"/>
              </a:solidFill>
              <a:effectLst/>
              <a:uFillTx/>
              <a:latin typeface="Arial"/>
            </a:endParaRPr>
          </a:p>
        </p:txBody>
      </p:sp>
      <p:sp>
        <p:nvSpPr>
          <p:cNvPr id="464" name="Text 2"/>
          <p:cNvSpPr/>
          <p:nvPr/>
        </p:nvSpPr>
        <p:spPr>
          <a:xfrm>
            <a:off x="1238400" y="4997880"/>
            <a:ext cx="9516240" cy="2514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2600" b="0" u="none" strike="noStrike">
                <a:solidFill>
                  <a:srgbClr val="343A40"/>
                </a:solidFill>
                <a:effectLst/>
                <a:uFillTx/>
                <a:latin typeface="Arial"/>
                <a:ea typeface="Arial"/>
              </a:rPr>
              <a:t>Non-adoption by a legitimate deaggregating announcer, a stale or missing ROA, a wrong maximum prefix length, or a routing leak all produce the same tag. Saying so is most of the credit.</a:t>
            </a:r>
            <a:endParaRPr lang="en-US" sz="2600" b="0" u="none" strike="noStrike">
              <a:solidFill>
                <a:srgbClr val="000000"/>
              </a:solidFill>
              <a:effectLst/>
              <a:uFillTx/>
              <a:latin typeface="Arial"/>
            </a:endParaRPr>
          </a:p>
          <a:p>
            <a:pPr defTabSz="914400">
              <a:lnSpc>
                <a:spcPct val="145000"/>
              </a:lnSpc>
              <a:spcBef>
                <a:spcPts val="799"/>
              </a:spcBef>
              <a:tabLst>
                <a:tab pos="0" algn="l"/>
              </a:tabLst>
            </a:pPr>
            <a:r>
              <a:rPr lang="en-US" sz="2600" b="0" u="none" strike="noStrike">
                <a:solidFill>
                  <a:srgbClr val="343A40"/>
                </a:solidFill>
                <a:effectLst/>
                <a:uFillTx/>
                <a:latin typeface="Arial"/>
                <a:ea typeface="Arial"/>
              </a:rPr>
              <a:t>A ROA with no matching BGPPrefix is usually not an anomaly either. The prefix may not be announced right now, or announced at a length the ROA does not list. Read the actual prefixes first.</a:t>
            </a:r>
            <a:endParaRPr lang="en-US" sz="2600" b="0" u="none" strike="noStrike">
              <a:solidFill>
                <a:srgbClr val="000000"/>
              </a:solidFill>
              <a:effectLst/>
              <a:uFillTx/>
              <a:latin typeface="Arial"/>
            </a:endParaRPr>
          </a:p>
        </p:txBody>
      </p:sp>
      <p:sp>
        <p:nvSpPr>
          <p:cNvPr id="465" name="Text 7"/>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6" name="Text 0"/>
          <p:cNvSpPr/>
          <p:nvPr/>
        </p:nvSpPr>
        <p:spPr>
          <a:xfrm>
            <a:off x="1238400" y="838080"/>
            <a:ext cx="10652400" cy="60300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noAutofit/>
          </a:bodyPr>
          <a:lstStyle/>
          <a:p>
            <a:pPr defTabSz="914400">
              <a:lnSpc>
                <a:spcPct val="100000"/>
              </a:lnSpc>
              <a:tabLst>
                <a:tab pos="0" algn="l"/>
              </a:tabLst>
            </a:pPr>
            <a:r>
              <a:rPr lang="en-US" sz="1950" b="1" u="none" strike="noStrike" spc="272">
                <a:solidFill>
                  <a:srgbClr val="A9C2E4"/>
                </a:solidFill>
                <a:effectLst/>
                <a:uFillTx/>
                <a:latin typeface="Arial"/>
                <a:ea typeface="Arial"/>
              </a:rPr>
              <a:t>APPENDIX · GOTCHAS</a:t>
            </a:r>
            <a:endParaRPr lang="en-US" sz="1950" b="0" u="none" strike="noStrike">
              <a:solidFill>
                <a:srgbClr val="000000"/>
              </a:solidFill>
              <a:effectLst/>
              <a:uFillTx/>
              <a:latin typeface="Arial"/>
            </a:endParaRPr>
          </a:p>
        </p:txBody>
      </p:sp>
      <p:sp>
        <p:nvSpPr>
          <p:cNvPr id="467" name="Text 1"/>
          <p:cNvSpPr/>
          <p:nvPr/>
        </p:nvSpPr>
        <p:spPr>
          <a:xfrm>
            <a:off x="1238400" y="1496520"/>
            <a:ext cx="17392320" cy="65196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4000"/>
              </a:lnSpc>
              <a:tabLst>
                <a:tab pos="0" algn="l"/>
              </a:tabLst>
            </a:pPr>
            <a:r>
              <a:rPr lang="en-US" sz="4650" b="0" u="none" strike="noStrike" spc="-45">
                <a:solidFill>
                  <a:srgbClr val="2B5187"/>
                </a:solidFill>
                <a:effectLst/>
                <a:uFillTx/>
                <a:latin typeface="Arial"/>
                <a:ea typeface="Arial"/>
              </a:rPr>
              <a:t>Two labels that will mislead you</a:t>
            </a:r>
            <a:endParaRPr lang="en-US" sz="4650" b="0" u="none" strike="noStrike">
              <a:solidFill>
                <a:srgbClr val="000000"/>
              </a:solidFill>
              <a:effectLst/>
              <a:uFillTx/>
              <a:latin typeface="Arial"/>
            </a:endParaRPr>
          </a:p>
        </p:txBody>
      </p:sp>
      <p:sp>
        <p:nvSpPr>
          <p:cNvPr id="468" name="Text 2"/>
          <p:cNvSpPr/>
          <p:nvPr/>
        </p:nvSpPr>
        <p:spPr>
          <a:xfrm>
            <a:off x="1238400" y="4997880"/>
            <a:ext cx="9516240" cy="251424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45000"/>
              </a:lnSpc>
              <a:tabLst>
                <a:tab pos="0" algn="l"/>
              </a:tabLst>
            </a:pPr>
            <a:r>
              <a:rPr lang="en-US" sz="2600" b="0" u="none" strike="noStrike">
                <a:solidFill>
                  <a:srgbClr val="343A40"/>
                </a:solidFill>
                <a:effectLst/>
                <a:uFillTx/>
                <a:latin typeface="Arial"/>
                <a:ea typeface="Arial"/>
              </a:rPr>
              <a:t>PEERS_WITH also connects an AS to a BGPCollector, which is a monitoring session and not a peering relationship. Put an explicit AS label on both ends before you count anything.</a:t>
            </a:r>
            <a:endParaRPr lang="en-US" sz="2600" b="0" u="none" strike="noStrike">
              <a:solidFill>
                <a:srgbClr val="000000"/>
              </a:solidFill>
              <a:effectLst/>
              <a:uFillTx/>
              <a:latin typeface="Arial"/>
            </a:endParaRPr>
          </a:p>
          <a:p>
            <a:pPr defTabSz="914400">
              <a:lnSpc>
                <a:spcPct val="145000"/>
              </a:lnSpc>
              <a:spcBef>
                <a:spcPts val="799"/>
              </a:spcBef>
              <a:tabLst>
                <a:tab pos="0" algn="l"/>
              </a:tabLst>
            </a:pPr>
            <a:r>
              <a:rPr lang="en-US" sz="2600" b="0" u="none" strike="noStrike">
                <a:solidFill>
                  <a:srgbClr val="343A40"/>
                </a:solidFill>
                <a:effectLst/>
                <a:uFillTx/>
                <a:latin typeface="Arial"/>
                <a:ea typeface="Arial"/>
              </a:rPr>
              <a:t>PART_OF means an IP inside a prefix, or a hostname inside a domain. The node labels tell you which, not the type. COUNTRY is the same: geolocation from one source, registration from another.</a:t>
            </a:r>
            <a:endParaRPr lang="en-US" sz="2600" b="0" u="none" strike="noStrike">
              <a:solidFill>
                <a:srgbClr val="000000"/>
              </a:solidFill>
              <a:effectLst/>
              <a:uFillTx/>
              <a:latin typeface="Arial"/>
            </a:endParaRPr>
          </a:p>
        </p:txBody>
      </p:sp>
      <p:sp>
        <p:nvSpPr>
          <p:cNvPr id="469" name="Text 7"/>
          <p:cNvSpPr/>
          <p:nvPr/>
        </p:nvSpPr>
        <p:spPr>
          <a:xfrm>
            <a:off x="1238400" y="9594720"/>
            <a:ext cx="4946760" cy="310680"/>
          </a:xfrm>
          <a:prstGeom prst="rect">
            <a:avLst/>
          </a:prstGeom>
          <a:noFill/>
          <a:ln w="0">
            <a:noFill/>
          </a:ln>
        </p:spPr>
        <p:style>
          <a:lnRef idx="0">
            <a:scrgbClr r="0" g="0" b="0"/>
          </a:lnRef>
          <a:fillRef idx="0">
            <a:scrgbClr r="0" g="0" b="0"/>
          </a:fillRef>
          <a:effectRef idx="0">
            <a:scrgbClr r="0" g="0" b="0"/>
          </a:effectRef>
          <a:fontRef idx="minor"/>
        </p:style>
        <p:txBody>
          <a:bodyPr lIns="25560" tIns="25560" rIns="25560" bIns="25560" anchor="t">
            <a:spAutoFit/>
          </a:bodyPr>
          <a:lstStyle/>
          <a:p>
            <a:pPr defTabSz="914400">
              <a:lnSpc>
                <a:spcPct val="100000"/>
              </a:lnSpc>
              <a:tabLst>
                <a:tab pos="0" algn="l"/>
              </a:tabLst>
            </a:pPr>
            <a:r>
              <a:rPr lang="en-US" sz="1800" b="0" u="none" strike="noStrike">
                <a:solidFill>
                  <a:srgbClr val="6C757D"/>
                </a:solidFill>
                <a:effectLst/>
                <a:uFillTx/>
                <a:latin typeface="Arial"/>
                <a:ea typeface="Arial"/>
              </a:rPr>
              <a:t>ESCALATE Training Program · Summer 2026</a:t>
            </a:r>
            <a:endParaRPr lang="en-US" sz="18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39</Slides>
  <Notes>39</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revision>327</cp:revision>
  <dcterms:created xsi:type="dcterms:W3CDTF">2026-06-21T00:44:42Z</dcterms:created>
  <dcterms:modified xsi:type="dcterms:W3CDTF">2026-08-05T13:21:39Z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19</vt:i4>
  </property>
</Properties>
</file>